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96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93C5FD">
              <a:alpha val="45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182880"/>
            <a:ext cx="2286000" cy="22860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93C5FD">
              <a:alpha val="4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8046720" cy="4480560"/>
          </a:xfrm>
          <a:prstGeom prst="roundRect">
            <a:avLst>
              <a:gd name="adj" fmla="val 5102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점진적인 개선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011680" y="2926080"/>
            <a:ext cx="5120640" cy="68580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0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</a:rPr>
              <a:t>Ground Rules</a:t>
            </a:r>
          </a:p>
          <a:p>
            <a:pPr marL="0" indent="0" algn="ctr">
              <a:buNone/>
            </a:pPr>
            <a:endParaRPr lang="en-US" sz="1300" dirty="0">
              <a:solidFill>
                <a:srgbClr val="2563EB"/>
              </a:solidFill>
            </a:endParaRPr>
          </a:p>
          <a:p>
            <a:pPr algn="ctr"/>
            <a:r>
              <a:rPr lang="en-US" altLang="ko-KR" sz="1300" dirty="0"/>
              <a:t>Cursor AI</a:t>
            </a:r>
            <a:r>
              <a:rPr lang="ko-KR" altLang="en-US" sz="1300" dirty="0"/>
              <a:t>를 활용한 소프트웨어 개발 과정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3474720"/>
            <a:ext cx="3200400" cy="32004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</a:rPr>
              <a:t>Agenda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50292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0" y="50292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337560" y="55778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13632" y="55778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점진적인 개선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13632" y="9784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강의 개요 및 학습 목표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37560" y="165506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13632" y="165506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Team Ground Rules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13632" y="20756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그라운드 룰이란? 만드는 방법 &amp; 사례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0" y="269748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37560" y="275234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13632" y="275234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Code Review Ground Rules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13632" y="31729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코드 리뷰 원칙 &amp; 기업 사례 (삼성/VD)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79476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200400" y="379476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337560" y="38496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13632" y="38496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Ground Rules 작성 실습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13632" y="42702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팀별 초안 작성 &amp; 발표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93C5FD">
              <a:alpha val="5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93C5FD">
              <a:alpha val="4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320040"/>
            <a:ext cx="8046720" cy="4480560"/>
          </a:xfrm>
          <a:prstGeom prst="roundRect">
            <a:avLst>
              <a:gd name="adj" fmla="val 5102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28600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Ground Rules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63EB"/>
                </a:solidFill>
              </a:rPr>
              <a:t>팀 그라운드 룰이란 무엇인가?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100" dirty="0">
                <a:solidFill>
                  <a:srgbClr val="64748B"/>
                </a:solidFill>
              </a:rPr>
              <a:t>Cursor AI</a:t>
            </a:r>
            <a:r>
              <a:rPr lang="ko-KR" altLang="en-US" sz="1100" dirty="0">
                <a:solidFill>
                  <a:srgbClr val="64748B"/>
                </a:solidFill>
              </a:rPr>
              <a:t>를 활용한 소프트웨어 개발 과정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</a:rPr>
              <a:t>그라운드 룰이란?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691640"/>
          </a:xfrm>
          <a:prstGeom prst="roundRect">
            <a:avLst>
              <a:gd name="adj" fmla="val 6486"/>
            </a:avLst>
          </a:prstGeom>
          <a:solidFill>
            <a:srgbClr val="1E40A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조직 구성원이 함께 지켜야 하는 기본 규칙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3127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함께 결정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모든 팀원이 참여하여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합의 기반으로 만든다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301752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2900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69080" y="3127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예외 없이 적용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57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정해진 규칙은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누구에게나 동등하게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301752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6364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3127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주기적 강조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657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잊지 않도록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반복하여 리마인드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사례 — 우아한형제들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</a:rPr>
              <a:t>송파구에서 일을 더 잘하는 11가지 방법 (몰혼토성역 편)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834640" cy="3794760"/>
          </a:xfrm>
          <a:prstGeom prst="roundRect">
            <a:avLst>
              <a:gd name="adj" fmla="val 3871"/>
            </a:avLst>
          </a:prstGeom>
          <a:solidFill>
            <a:srgbClr val="1E40A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핵심 메시지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"9시 4분은 9시가 아니다"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12시 1분은 12시가 아니다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2286000" cy="0"/>
          </a:xfrm>
          <a:prstGeom prst="line">
            <a:avLst/>
          </a:prstGeom>
          <a:noFill/>
          <a:ln w="10160">
            <a:solidFill>
              <a:srgbClr val="93C5F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명확한 기준 없이는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문화가 흔들린다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78992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74720" y="116128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161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124712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</a:rPr>
              <a:t>9시 4분은 9시가 아니다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078992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55080" y="116128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55080" y="1161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124712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실행은 수직적! 문화는 수평적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1755648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474720" y="1837944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474720" y="1837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1801368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잡담을 많이 나누는 것이 경쟁력이다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755648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55080" y="1837944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355080" y="1837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1801368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쓰레기는 먼저 본 사람이 줍는다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432304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474720" y="251460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474720" y="2514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77640" y="247802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휴가나 퇴근 시 눈치 주는 농담 금지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432304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355080" y="251460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55080" y="2514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478024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보고는 팩트에 기반한다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3108960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74720" y="3191256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474720" y="3191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77640" y="3154680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일의 목적·기간·결과·공유자를 고민하며 일한다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3108960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355080" y="3191256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355080" y="3191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0" y="3154680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책임은 실행한 사람이 아닌 결정한 사람이 진다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83280" y="3785616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474720" y="386791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474720" y="3867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977640" y="3831336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가족에게 부끄러운 일은 하지 않는다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63640" y="3785616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355080" y="386791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355080" y="3867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58000" y="3831336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모든 일의 목적은 '고객창출'과 '고객만족'이다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83280" y="4462272"/>
            <a:ext cx="2743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474720" y="454456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474720" y="4544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977640" y="4507992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이끌거나, 따르거나, 떠나거나!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팀 그라운드 룰 만들 때 고려사항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16152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15214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모든 팀원이 참여하여 결정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4447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톱다운이 아닌 합의 기반으로 → 자발적 실천 유도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8412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00253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002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19385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항목은 적을수록 좋다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23113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너무 많으면 기억하기 어렵고 지켜지지 않는다 → 핵심 5개 내외 권장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8412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64008" cy="6949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27249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명확하고 구체적으로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017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'친절하게'보다 '반박 시 근거를 함께 제시한다' → 행동 기준이 명확해야 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8412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438144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3575304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575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5112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정해진 그라운드 룰은 예외 없이 적용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38039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리더도 예외가 없어야 실질적 문화로 정착된다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8412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64008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36168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361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78992" y="429768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주기적으로 강조되어야 한다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78992" y="45902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회의 시작 전 낭독, 온보딩 때 공유 등 반복적 상기 필요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팀 그라운드 룰 예시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2161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모르는 내용은 바로 질문하고 공유하자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7899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0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12161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의견 전달은 친절하되 솔직하게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157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1305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아침 출근 시 반갑게 인사하자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99339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2157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77840" y="21305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자리를 비울 경우 미리 말해 주기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0449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팀 회의 매일 개설 (뉴스 미팅)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90779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304495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팀 미팅은 근황 토크(5분)로 시작하자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51760" y="3822192"/>
            <a:ext cx="3840480" cy="749808"/>
          </a:xfrm>
          <a:prstGeom prst="roundRect">
            <a:avLst>
              <a:gd name="adj" fmla="val 14634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880360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29000" y="395935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하루 세 번 팀원 칭찬하기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93C5FD">
              <a:alpha val="5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93C5FD">
              <a:alpha val="4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320040"/>
            <a:ext cx="8046720" cy="4480560"/>
          </a:xfrm>
          <a:prstGeom prst="roundRect">
            <a:avLst>
              <a:gd name="adj" fmla="val 5102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Code Review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0" y="15727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Ground Rules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63EB"/>
                </a:solidFill>
              </a:rPr>
              <a:t>코드 리뷰를 더 잘하는 방법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64748B"/>
                </a:solidFill>
              </a:rPr>
              <a:t>Cursor AI</a:t>
            </a:r>
            <a:r>
              <a:rPr lang="ko-KR" altLang="en-US" sz="1100" dirty="0">
                <a:solidFill>
                  <a:srgbClr val="64748B"/>
                </a:solidFill>
              </a:rPr>
              <a:t>를 활용한 소프트웨어 개발 과정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to Do Code Reviews Like a Human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097280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지루한 작업은 컴퓨터로 처리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린터·포매터 등 자동화 도구 적극 활용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24128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83280" y="1133856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3048" y="1097280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스타일 가이드를 통해 스타일 논쟁 해소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1700784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의견이 아닌 공통 기준으로 판단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024128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55080" y="1133856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55080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84848" y="1097280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고수준으로 시작, 저수준으로 내려가라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1700784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전체 설계 먼저 → 세부 구현은 나중에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22576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11480" y="243230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2395728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예제 코드 제공에 관대해라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2999232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직접 써주는 것이 이해를 도울 수 있다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322576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383280" y="243230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38328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13048" y="2395728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의견이 아니라 원칙에 기반하여 피드백하라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3280" y="2999232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'내 취향'이 아닌 '우리 원칙'으로 말한다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322576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355080" y="243230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35508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84848" y="2395728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한두 등급만 코드 레벨을 올리는 것을 목표로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55080" y="2999232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완벽을 강요하지 말고 점진적 개선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621024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11480" y="373075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1148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" y="3694176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리뷰 범위를 존중하라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1480" y="4297680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 범위 밖의 지적은 별도 이슈로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3621024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383280" y="373075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38328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13048" y="3694176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큰 리뷰를 작게 나눌 기회를 찾아라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383280" y="4297680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200 LOC 이하 단위 커밋 권장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3621024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355080" y="373075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35508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84848" y="3694176"/>
            <a:ext cx="215798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진정한 칭찬을 해라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55080" y="4297680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잘 된 점을 구체적으로 언급하는 것도 리뷰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</a:rPr>
              <a:t>사례 — Samsung Code Review 지침 9가지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402336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88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✔  Self-Inspection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928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리뷰 요청 전 Clean Code 작성 확인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미사용 코드·변수 삭제, 네이밍 점검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79192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679192"/>
            <a:ext cx="2788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770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✔  Commit 작성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단일 기능·주제 단위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1시간 리뷰 고려 200 LOC 이하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명확한 Commit Message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849624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3849624"/>
            <a:ext cx="2788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4048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✔  리뷰 요청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42336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동료 개발자에게 요청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(Gerrit/GitHub 방식 활용)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788920" cy="402336"/>
          </a:xfrm>
          <a:prstGeom prst="roundRect">
            <a:avLst>
              <a:gd name="adj" fmla="val 27273"/>
            </a:avLst>
          </a:prstGeom>
          <a:solidFill>
            <a:srgbClr val="0891B2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46120" y="105156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1508760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246120" y="1508760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355848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✔  리뷰 의견 대응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18928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Reviewer 의견 수용 시 코드 수정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반대 시 답글 작성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오프라인 논의 후 결과·이유 기록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679192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46120" y="2679192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355848" y="2770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✔  Merge 수행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+2점 또는 Approve를 받으면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팀 내에서 판단한 후 Merge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849624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46120" y="3849624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355848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✔  리뷰 의견 조치 확인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42336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다른 Reviewer 의견 고려 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리뷰 Point 부여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051560"/>
            <a:ext cx="2788920" cy="402336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17920" y="105156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1508760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217920" y="1508760"/>
            <a:ext cx="27889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327648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  리뷰 관점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18928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툴로 검출 어렵고 사람 눈으로 판단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가능한 로직·구조 측면 집중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API 명명·파라미터·보안 관점 검토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2679192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217920" y="2679192"/>
            <a:ext cx="27889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327648" y="2770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  리뷰 의견 작성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27648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문제 제기·방향 구체적으로 작성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완곡한 표현 사용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범위 밖 코드 Comment 지양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3849624"/>
            <a:ext cx="2788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217920" y="3849624"/>
            <a:ext cx="27889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327648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  리뷰 Point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27648" y="42336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+2 Approve / +1 Comment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0 단순 의견 / -1,-2 Request Changes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40AF"/>
                </a:solidFill>
              </a:rPr>
              <a:t>사례</a:t>
            </a:r>
            <a:r>
              <a:rPr lang="en-US" sz="2200" b="1" dirty="0">
                <a:solidFill>
                  <a:srgbClr val="1E40AF"/>
                </a:solidFill>
              </a:rPr>
              <a:t> —</a:t>
            </a:r>
            <a:r>
              <a:rPr lang="en-US" sz="2200" b="1" dirty="0" err="1">
                <a:solidFill>
                  <a:srgbClr val="1E40AF"/>
                </a:solidFill>
              </a:rPr>
              <a:t>코드리뷰</a:t>
            </a:r>
            <a:r>
              <a:rPr lang="en-US" sz="2200" b="1" dirty="0">
                <a:solidFill>
                  <a:srgbClr val="1E40AF"/>
                </a:solidFill>
              </a:rPr>
              <a:t> 10 Ground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05156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 Everyone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206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84048" y="1499616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4996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다 같이 참여하기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801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우리 모두가 다 리뷰어입니다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4206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18888" y="1499616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18888" y="14996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4630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긍정적 마인드 갖기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801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공격/방어 대신 상호 신뢰 기반 건설적 리뷰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1234440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 Requesters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84048" y="272491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84048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697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셀프리뷰 먼저 하기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13639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변경사항 꼼꼼히 살피고 리뷰 요청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41448" y="265176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551176" y="272491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551176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35808" y="2697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하나씩 요청하기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51176" y="313639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한 번에 하나의 이슈만 리뷰 요청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08576" y="265176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718304" y="272491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18304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02936" y="2697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컨텍스트 제공하기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8304" y="313639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코드 변경 이유·내용·목적 Commit message 전달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75704" y="2651760"/>
            <a:ext cx="202996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85432" y="272491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885432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70064" y="2697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짧게 짧게~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85432" y="3136392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코드 변경량 100 LOC 이내 유지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1234440" cy="329184"/>
          </a:xfrm>
          <a:prstGeom prst="roundRect">
            <a:avLst>
              <a:gd name="adj" fmla="val 2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36576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 Reviewers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84048" y="4096512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84048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4069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</a:rPr>
              <a:t>도구 활용하기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4048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정적분석 도구·가독성·보안 집중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41448" y="4023360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2551176" y="4096512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551176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035808" y="4069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</a:rPr>
              <a:t>친절하게 설명하기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551176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리뷰 코멘트 꼼꼼하고 자세하게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08576" y="4023360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18304" y="4096512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18304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02936" y="4069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</a:rPr>
              <a:t>작은 단위로 자주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18304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조금씩 자주 리뷰하기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75704" y="4023360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885432" y="4096512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885432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370064" y="40690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</a:rPr>
              <a:t>객관적으로 리뷰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85432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주관적 기호 반영 변경 요청 지양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93C5FD">
              <a:alpha val="5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93C5FD">
              <a:alpha val="40000"/>
            </a:srgbClr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320040"/>
            <a:ext cx="8046720" cy="4480560"/>
          </a:xfrm>
          <a:prstGeom prst="roundRect">
            <a:avLst>
              <a:gd name="adj" fmla="val 5102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40AF"/>
                </a:solidFill>
              </a:rPr>
              <a:t>Ground Rules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563EB"/>
                </a:solidFill>
              </a:rPr>
              <a:t>작성 실습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63EB"/>
                </a:solidFill>
              </a:rPr>
              <a:t>팀별 초안 만들기 &amp; 발표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64748B"/>
                </a:solidFill>
              </a:rPr>
              <a:t>Cursor AI</a:t>
            </a:r>
            <a:r>
              <a:rPr lang="ko-KR" altLang="en-US" sz="1100" dirty="0">
                <a:solidFill>
                  <a:srgbClr val="64748B"/>
                </a:solidFill>
              </a:rPr>
              <a:t>를 활용한 소프트웨어 개발 과정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Ground Rules 실습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참고할 Ground Rules 선택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앞서 배운 사례 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우리 팀에 맞는 규칙 선별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2743200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08960" y="248716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73552" y="1115568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73552" y="1115568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1737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✏️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410712" y="26060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팀 그라운드 룰 초안 만들기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Team Ground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Code Review Ground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2743200"/>
            <a:ext cx="9144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16752" y="248716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81344" y="1115568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81344" y="1115568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181344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18504" y="1737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🎤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318504" y="26060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발표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18504" y="3291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팀별로 작성한 그라운드 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공유 &amp; 피드백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8412480" cy="566928"/>
          </a:xfrm>
          <a:prstGeom prst="roundRect">
            <a:avLst>
              <a:gd name="adj" fmla="val 19355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446227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</a:rPr>
              <a:t>💡  Tip: 항목은 5~7개 이내, 구체적인 행동 기준으로 작성하세요. 모든 팀원이 공감할 수 있어야 합니다!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880</Words>
  <Application>Microsoft Office PowerPoint</Application>
  <PresentationFormat>화면 슬라이드 쇼(16:9)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 Rules 강의자료 — Best Reviewer 양성과정</dc:title>
  <dc:subject>PptxGenJS Presentation</dc:subject>
  <dc:creator>PptxGenJS</dc:creator>
  <cp:lastModifiedBy>대경 김</cp:lastModifiedBy>
  <cp:revision>8</cp:revision>
  <dcterms:created xsi:type="dcterms:W3CDTF">2026-05-01T05:59:55Z</dcterms:created>
  <dcterms:modified xsi:type="dcterms:W3CDTF">2026-06-03T01:21:02Z</dcterms:modified>
</cp:coreProperties>
</file>