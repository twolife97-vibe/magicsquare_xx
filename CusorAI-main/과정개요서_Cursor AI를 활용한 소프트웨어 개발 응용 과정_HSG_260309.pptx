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38" r:id="rId2"/>
    <p:sldId id="351" r:id="rId3"/>
  </p:sldIdLst>
  <p:sldSz cx="9906000" cy="6858000" type="A4"/>
  <p:notesSz cx="6858000" cy="9144000"/>
  <p:defaultTextStyle>
    <a:defPPr>
      <a:defRPr lang="ko-KR"/>
    </a:defPPr>
    <a:lvl1pPr marL="0" algn="l" defTabSz="914290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57145" algn="l" defTabSz="914290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914290" algn="l" defTabSz="914290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71433" algn="l" defTabSz="914290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828578" algn="l" defTabSz="914290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285722" algn="l" defTabSz="914290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742867" algn="l" defTabSz="914290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200011" algn="l" defTabSz="914290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657155" algn="l" defTabSz="914290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9D9D9"/>
    <a:srgbClr val="AD0248"/>
    <a:srgbClr val="CCFF66"/>
    <a:srgbClr val="C5003D"/>
    <a:srgbClr val="FFCFB9"/>
    <a:srgbClr val="800080"/>
    <a:srgbClr val="7F992B"/>
    <a:srgbClr val="FFFF00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63EE96-C2EA-4786-9288-E795983C10DE}" v="7" dt="2026-03-05T08:17:43.9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16" autoAdjust="0"/>
    <p:restoredTop sz="94485" autoAdjust="0"/>
  </p:normalViewPr>
  <p:slideViewPr>
    <p:cSldViewPr>
      <p:cViewPr varScale="1">
        <p:scale>
          <a:sx n="80" d="100"/>
          <a:sy n="80" d="100"/>
        </p:scale>
        <p:origin x="96" y="1122"/>
      </p:cViewPr>
      <p:guideLst>
        <p:guide orient="horz" pos="2161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대경 김" userId="f06690db82aae6d4" providerId="LiveId" clId="{C1FB1E98-518B-47BD-9AF3-9C21D8FCD2FA}"/>
    <pc:docChg chg="modSld">
      <pc:chgData name="대경 김" userId="f06690db82aae6d4" providerId="LiveId" clId="{C1FB1E98-518B-47BD-9AF3-9C21D8FCD2FA}" dt="2026-03-05T08:17:43.924" v="64"/>
      <pc:docMkLst>
        <pc:docMk/>
      </pc:docMkLst>
      <pc:sldChg chg="modSp mod">
        <pc:chgData name="대경 김" userId="f06690db82aae6d4" providerId="LiveId" clId="{C1FB1E98-518B-47BD-9AF3-9C21D8FCD2FA}" dt="2026-03-05T08:17:43.924" v="64"/>
        <pc:sldMkLst>
          <pc:docMk/>
          <pc:sldMk cId="2799101275" sldId="338"/>
        </pc:sldMkLst>
        <pc:graphicFrameChg chg="mod modGraphic">
          <ac:chgData name="대경 김" userId="f06690db82aae6d4" providerId="LiveId" clId="{C1FB1E98-518B-47BD-9AF3-9C21D8FCD2FA}" dt="2026-03-05T08:17:43.924" v="64"/>
          <ac:graphicFrameMkLst>
            <pc:docMk/>
            <pc:sldMk cId="2799101275" sldId="338"/>
            <ac:graphicFrameMk id="9" creationId="{00000000-0000-0000-0000-000000000000}"/>
          </ac:graphicFrameMkLst>
        </pc:graphicFrameChg>
      </pc:sldChg>
      <pc:sldChg chg="modSp mod">
        <pc:chgData name="대경 김" userId="f06690db82aae6d4" providerId="LiveId" clId="{C1FB1E98-518B-47BD-9AF3-9C21D8FCD2FA}" dt="2026-03-05T08:17:15.425" v="59" actId="20577"/>
        <pc:sldMkLst>
          <pc:docMk/>
          <pc:sldMk cId="2314747045" sldId="351"/>
        </pc:sldMkLst>
        <pc:graphicFrameChg chg="mod modGraphic">
          <ac:chgData name="대경 김" userId="f06690db82aae6d4" providerId="LiveId" clId="{C1FB1E98-518B-47BD-9AF3-9C21D8FCD2FA}" dt="2026-03-05T08:17:15.425" v="59" actId="20577"/>
          <ac:graphicFrameMkLst>
            <pc:docMk/>
            <pc:sldMk cId="2314747045" sldId="351"/>
            <ac:graphicFrameMk id="16" creationId="{EC064FE1-85C1-4E1F-83CA-B0C156EDD6B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813738-175F-48B9-92A9-4E726283284C}" type="datetimeFigureOut">
              <a:rPr lang="ko-KR" altLang="en-US" smtClean="0"/>
              <a:pPr/>
              <a:t>2026-06-03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91F8FC-13EC-4519-825C-766AD7120A1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034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5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0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33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78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22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67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1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55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1" cy="147002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1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36632-5255-4D0B-8E56-A3EA0BB1D24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36632-5255-4D0B-8E56-A3EA0BB1D24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5" y="4406902"/>
            <a:ext cx="84201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5" y="2906714"/>
            <a:ext cx="84201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4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9142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3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82857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285722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742867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3200011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65715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36632-5255-4D0B-8E56-A3EA0BB1D24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575" y="1600203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48301" y="1600203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36632-5255-4D0B-8E56-A3EA0BB1D24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2" y="1535113"/>
            <a:ext cx="437686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5" indent="0">
              <a:buNone/>
              <a:defRPr sz="2000" b="1"/>
            </a:lvl2pPr>
            <a:lvl3pPr marL="914290" indent="0">
              <a:buNone/>
              <a:defRPr sz="1700" b="1"/>
            </a:lvl3pPr>
            <a:lvl4pPr marL="1371433" indent="0">
              <a:buNone/>
              <a:defRPr sz="1600" b="1"/>
            </a:lvl4pPr>
            <a:lvl5pPr marL="1828578" indent="0">
              <a:buNone/>
              <a:defRPr sz="1600" b="1"/>
            </a:lvl5pPr>
            <a:lvl6pPr marL="2285722" indent="0">
              <a:buNone/>
              <a:defRPr sz="1600" b="1"/>
            </a:lvl6pPr>
            <a:lvl7pPr marL="2742867" indent="0">
              <a:buNone/>
              <a:defRPr sz="1600" b="1"/>
            </a:lvl7pPr>
            <a:lvl8pPr marL="3200011" indent="0">
              <a:buNone/>
              <a:defRPr sz="1600" b="1"/>
            </a:lvl8pPr>
            <a:lvl9pPr marL="3657155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2" y="2174874"/>
            <a:ext cx="437686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5" indent="0">
              <a:buNone/>
              <a:defRPr sz="2000" b="1"/>
            </a:lvl2pPr>
            <a:lvl3pPr marL="914290" indent="0">
              <a:buNone/>
              <a:defRPr sz="1700" b="1"/>
            </a:lvl3pPr>
            <a:lvl4pPr marL="1371433" indent="0">
              <a:buNone/>
              <a:defRPr sz="1600" b="1"/>
            </a:lvl4pPr>
            <a:lvl5pPr marL="1828578" indent="0">
              <a:buNone/>
              <a:defRPr sz="1600" b="1"/>
            </a:lvl5pPr>
            <a:lvl6pPr marL="2285722" indent="0">
              <a:buNone/>
              <a:defRPr sz="1600" b="1"/>
            </a:lvl6pPr>
            <a:lvl7pPr marL="2742867" indent="0">
              <a:buNone/>
              <a:defRPr sz="1600" b="1"/>
            </a:lvl7pPr>
            <a:lvl8pPr marL="3200011" indent="0">
              <a:buNone/>
              <a:defRPr sz="1600" b="1"/>
            </a:lvl8pPr>
            <a:lvl9pPr marL="3657155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4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36632-5255-4D0B-8E56-A3EA0BB1D24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36632-5255-4D0B-8E56-A3EA0BB1D24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36632-5255-4D0B-8E56-A3EA0BB1D24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3050"/>
            <a:ext cx="3259006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2" y="273051"/>
            <a:ext cx="5537729" cy="585311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1" y="1435102"/>
            <a:ext cx="3259006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57145" indent="0">
              <a:buNone/>
              <a:defRPr sz="1200"/>
            </a:lvl2pPr>
            <a:lvl3pPr marL="914290" indent="0">
              <a:buNone/>
              <a:defRPr sz="900"/>
            </a:lvl3pPr>
            <a:lvl4pPr marL="1371433" indent="0">
              <a:buNone/>
              <a:defRPr sz="900"/>
            </a:lvl4pPr>
            <a:lvl5pPr marL="1828578" indent="0">
              <a:buNone/>
              <a:defRPr sz="900"/>
            </a:lvl5pPr>
            <a:lvl6pPr marL="2285722" indent="0">
              <a:buNone/>
              <a:defRPr sz="900"/>
            </a:lvl6pPr>
            <a:lvl7pPr marL="2742867" indent="0">
              <a:buNone/>
              <a:defRPr sz="900"/>
            </a:lvl7pPr>
            <a:lvl8pPr marL="3200011" indent="0">
              <a:buNone/>
              <a:defRPr sz="900"/>
            </a:lvl8pPr>
            <a:lvl9pPr marL="3657155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36632-5255-4D0B-8E56-A3EA0BB1D24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6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45" indent="0">
              <a:buNone/>
              <a:defRPr sz="2800"/>
            </a:lvl2pPr>
            <a:lvl3pPr marL="914290" indent="0">
              <a:buNone/>
              <a:defRPr sz="2400"/>
            </a:lvl3pPr>
            <a:lvl4pPr marL="1371433" indent="0">
              <a:buNone/>
              <a:defRPr sz="2000"/>
            </a:lvl4pPr>
            <a:lvl5pPr marL="1828578" indent="0">
              <a:buNone/>
              <a:defRPr sz="2000"/>
            </a:lvl5pPr>
            <a:lvl6pPr marL="2285722" indent="0">
              <a:buNone/>
              <a:defRPr sz="2000"/>
            </a:lvl6pPr>
            <a:lvl7pPr marL="2742867" indent="0">
              <a:buNone/>
              <a:defRPr sz="2000"/>
            </a:lvl7pPr>
            <a:lvl8pPr marL="3200011" indent="0">
              <a:buNone/>
              <a:defRPr sz="2000"/>
            </a:lvl8pPr>
            <a:lvl9pPr marL="3657155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9"/>
            <a:ext cx="5943600" cy="804862"/>
          </a:xfrm>
        </p:spPr>
        <p:txBody>
          <a:bodyPr/>
          <a:lstStyle>
            <a:lvl1pPr marL="0" indent="0">
              <a:buNone/>
              <a:defRPr sz="1300"/>
            </a:lvl1pPr>
            <a:lvl2pPr marL="457145" indent="0">
              <a:buNone/>
              <a:defRPr sz="1200"/>
            </a:lvl2pPr>
            <a:lvl3pPr marL="914290" indent="0">
              <a:buNone/>
              <a:defRPr sz="900"/>
            </a:lvl3pPr>
            <a:lvl4pPr marL="1371433" indent="0">
              <a:buNone/>
              <a:defRPr sz="900"/>
            </a:lvl4pPr>
            <a:lvl5pPr marL="1828578" indent="0">
              <a:buNone/>
              <a:defRPr sz="900"/>
            </a:lvl5pPr>
            <a:lvl6pPr marL="2285722" indent="0">
              <a:buNone/>
              <a:defRPr sz="900"/>
            </a:lvl6pPr>
            <a:lvl7pPr marL="2742867" indent="0">
              <a:buNone/>
              <a:defRPr sz="900"/>
            </a:lvl7pPr>
            <a:lvl8pPr marL="3200011" indent="0">
              <a:buNone/>
              <a:defRPr sz="900"/>
            </a:lvl8pPr>
            <a:lvl9pPr marL="3657155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36632-5255-4D0B-8E56-A3EA0BB1D24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36632-5255-4D0B-8E56-A3EA0BB1D24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780337" y="274640"/>
            <a:ext cx="2414588" cy="585152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6577" y="274640"/>
            <a:ext cx="7078662" cy="585152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36632-5255-4D0B-8E56-A3EA0BB1D24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 sz="900" b="1">
                <a:latin typeface="Trebuchet MS" pitchFamily="34" charset="0"/>
              </a:defRPr>
            </a:lvl1pPr>
          </a:lstStyle>
          <a:p>
            <a:pPr>
              <a:defRPr/>
            </a:pPr>
            <a:fld id="{CD5D8718-6E68-48AC-BD70-CA7B5095D1FC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1" y="274638"/>
            <a:ext cx="8915400" cy="11430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1" y="1600203"/>
            <a:ext cx="8915400" cy="4525963"/>
          </a:xfrm>
          <a:prstGeom prst="rect">
            <a:avLst/>
          </a:prstGeom>
        </p:spPr>
        <p:txBody>
          <a:bodyPr vert="horz" lIns="91429" tIns="45714" rIns="91429" bIns="45714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91429" tIns="45714" rIns="91429" bIns="4571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1" y="6356352"/>
            <a:ext cx="3136900" cy="365125"/>
          </a:xfrm>
          <a:prstGeom prst="rect">
            <a:avLst/>
          </a:prstGeom>
        </p:spPr>
        <p:txBody>
          <a:bodyPr vert="horz" lIns="91429" tIns="45714" rIns="91429" bIns="4571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vert="horz" lIns="91429" tIns="45714" rIns="91429" bIns="4571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36632-5255-4D0B-8E56-A3EA0BB1D24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04" r:id="rId12"/>
  </p:sldLayoutIdLst>
  <p:hf hdr="0" ftr="0" dt="0"/>
  <p:txStyles>
    <p:titleStyle>
      <a:lvl1pPr algn="ctr" defTabSz="91429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8" indent="-342858" algn="l" defTabSz="91429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9" indent="-285716" algn="l" defTabSz="91429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61" indent="-228572" algn="l" defTabSz="91429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6" indent="-228572" algn="l" defTabSz="91429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9" indent="-228572" algn="l" defTabSz="91429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94" indent="-228572" algn="l" defTabSz="91429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39" indent="-228572" algn="l" defTabSz="91429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84" indent="-228572" algn="l" defTabSz="91429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27" indent="-228572" algn="l" defTabSz="91429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3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8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2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67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11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5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92"/>
          <p:cNvSpPr/>
          <p:nvPr/>
        </p:nvSpPr>
        <p:spPr bwMode="auto">
          <a:xfrm>
            <a:off x="0" y="1191"/>
            <a:ext cx="9906000" cy="171379"/>
          </a:xfrm>
          <a:prstGeom prst="rect">
            <a:avLst/>
          </a:prstGeom>
          <a:solidFill>
            <a:srgbClr val="00B0F0"/>
          </a:solidFill>
          <a:ln w="9525" cap="flat" cmpd="sng" algn="ctr">
            <a:noFill/>
            <a:prstDash val="solid"/>
          </a:ln>
          <a:effectLst>
            <a:innerShdw blurRad="190500" dist="114300" dir="5640000">
              <a:srgbClr val="000000">
                <a:alpha val="37000"/>
              </a:srgbClr>
            </a:innerShdw>
          </a:effectLst>
        </p:spPr>
        <p:txBody>
          <a:bodyPr lIns="91429" tIns="45714" rIns="91429" bIns="45714"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" y="169009"/>
            <a:ext cx="9906000" cy="4616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29" tIns="45714" rIns="91429" bIns="45714" rtlCol="0" anchor="ctr">
            <a:spAutoFit/>
          </a:bodyPr>
          <a:lstStyle/>
          <a:p>
            <a:pPr algn="ctr"/>
            <a:endParaRPr lang="en-US" altLang="ko-KR" sz="1200" b="1" dirty="0">
              <a:solidFill>
                <a:srgbClr val="000000">
                  <a:lumMod val="95000"/>
                  <a:lumOff val="5000"/>
                </a:srgb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  <a:p>
            <a:pPr algn="ctr"/>
            <a:endParaRPr lang="ko-KR" altLang="en-US" sz="1200" b="1" dirty="0">
              <a:solidFill>
                <a:srgbClr val="000000">
                  <a:lumMod val="95000"/>
                  <a:lumOff val="5000"/>
                </a:srgb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11" name="슬라이드 번호 개체 틀 18"/>
          <p:cNvSpPr>
            <a:spLocks noGrp="1"/>
          </p:cNvSpPr>
          <p:nvPr>
            <p:ph type="sldNum" sz="quarter" idx="4294967295"/>
          </p:nvPr>
        </p:nvSpPr>
        <p:spPr>
          <a:xfrm>
            <a:off x="7619109" y="6549124"/>
            <a:ext cx="2286891" cy="307686"/>
          </a:xfrm>
          <a:prstGeom prst="rect">
            <a:avLst/>
          </a:prstGeom>
        </p:spPr>
        <p:txBody>
          <a:bodyPr/>
          <a:lstStyle/>
          <a:p>
            <a:pPr algn="r"/>
            <a:fld id="{CA336632-5255-4D0B-8E56-A3EA0BB1D241}" type="slidenum">
              <a:rPr lang="ko-KR" altLang="en-US" sz="110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pPr algn="r"/>
              <a:t>1</a:t>
            </a:fld>
            <a:endParaRPr lang="ko-KR" altLang="en-US" sz="11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065797"/>
              </p:ext>
            </p:extLst>
          </p:nvPr>
        </p:nvGraphicFramePr>
        <p:xfrm>
          <a:off x="272480" y="764705"/>
          <a:ext cx="9340505" cy="5775140"/>
        </p:xfrm>
        <a:graphic>
          <a:graphicData uri="http://schemas.openxmlformats.org/drawingml/2006/table">
            <a:tbl>
              <a:tblPr/>
              <a:tblGrid>
                <a:gridCol w="1071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4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82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53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3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47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81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3472">
                <a:tc>
                  <a:txBody>
                    <a:bodyPr/>
                    <a:lstStyle/>
                    <a:p>
                      <a:pPr marL="0" marR="0" lvl="0" indent="0" algn="ctr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과정명</a:t>
                      </a:r>
                      <a:endParaRPr kumimoji="0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/>
                        <a:t>Cursor AI</a:t>
                      </a:r>
                      <a:r>
                        <a:rPr lang="ko-KR" altLang="en-US" sz="1000" b="1" dirty="0"/>
                        <a:t>를 활용한 소프트웨어 개발 응용</a:t>
                      </a: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구분</a:t>
                      </a: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필수 □   선택 ■   선발 □</a:t>
                      </a: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Tx/>
                        <a:buNone/>
                        <a:tabLst/>
                      </a:pP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인정 학점</a:t>
                      </a: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- 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988">
                <a:tc>
                  <a:txBody>
                    <a:bodyPr/>
                    <a:lstStyle/>
                    <a:p>
                      <a:pPr marL="0" marR="0" lvl="0" indent="0" algn="ctr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과정 개요</a:t>
                      </a: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29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본 과정은 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Prompt Engineering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기술과 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Cursor AI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를 활용한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 TDD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및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 Vibe Coding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기반의 소프트웨어 개발 역량을 기를 수 있다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603">
                <a:tc>
                  <a:txBody>
                    <a:bodyPr/>
                    <a:lstStyle/>
                    <a:p>
                      <a:pPr marL="0" marR="0" lvl="0" indent="0" algn="ctr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학습 목표</a:t>
                      </a: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85725" indent="-85725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000" dirty="0"/>
                        <a:t>Prompt Engineering Master Template</a:t>
                      </a:r>
                      <a:r>
                        <a:rPr lang="ko-KR" altLang="en-US" sz="1000" dirty="0"/>
                        <a:t>을 작성할 수 있다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marL="85725" indent="-85725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000" dirty="0"/>
                        <a:t>TDD RED–GREEN–REFACTOR Loop </a:t>
                      </a:r>
                      <a:r>
                        <a:rPr lang="ko-KR" altLang="en-US" sz="1000" dirty="0"/>
                        <a:t>과정을 수행할 수 있다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marL="85725" indent="-85725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000" dirty="0"/>
                        <a:t>Dual-Track UI + Logic TDD </a:t>
                      </a:r>
                      <a:r>
                        <a:rPr lang="ko-KR" altLang="en-US" sz="1000" dirty="0"/>
                        <a:t>워크플로우를 이해할 수 있다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marL="85725" indent="-85725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Vibe Coding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을 할 수 있다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dirty="0"/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224">
                <a:tc>
                  <a:txBody>
                    <a:bodyPr/>
                    <a:lstStyle/>
                    <a:p>
                      <a:pPr marL="0" marR="0" lvl="0" indent="0" algn="ctr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대상자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Cursor AI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를 활용한 소프트웨어 개발을 하고자 하는 </a:t>
                      </a:r>
                      <a:br>
                        <a:rPr lang="en-US" altLang="ko-KR" sz="1000" b="0" dirty="0">
                          <a:latin typeface="+mn-ea"/>
                          <a:ea typeface="+mn-ea"/>
                        </a:rPr>
                      </a:b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임직원</a:t>
                      </a: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선수 지식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- </a:t>
                      </a: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800">
                <a:tc>
                  <a:txBody>
                    <a:bodyPr/>
                    <a:lstStyle/>
                    <a:p>
                      <a:pPr marL="0" marR="0" lvl="0" indent="0" algn="ctr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선수 과정</a:t>
                      </a: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- Cursor AI</a:t>
                      </a:r>
                      <a:r>
                        <a:rPr kumimoji="0" lang="ko-KR" altLang="en-US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를 활용한 소프트웨어 개발 기본</a:t>
                      </a: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사후 과정</a:t>
                      </a: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- 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Tx/>
                        <a:buNone/>
                        <a:tabLst/>
                      </a:pPr>
                      <a:endParaRPr kumimoji="0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돋움" pitchFamily="50" charset="-127"/>
                        <a:cs typeface="Arial" pitchFamily="34" charset="0"/>
                      </a:endParaRPr>
                    </a:p>
                  </a:txBody>
                  <a:tcPr marL="65236" marR="65236" marT="35846" marB="35846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돋움" pitchFamily="50" charset="-127"/>
                        <a:cs typeface="Arial" pitchFamily="34" charset="0"/>
                      </a:endParaRPr>
                    </a:p>
                  </a:txBody>
                  <a:tcPr marL="65236" marR="65236" marT="35846" marB="35846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800">
                <a:tc>
                  <a:txBody>
                    <a:bodyPr/>
                    <a:lstStyle/>
                    <a:p>
                      <a:pPr marL="0" marR="0" lvl="0" indent="0" algn="ctr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이수 기준</a:t>
                      </a: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출석률 </a:t>
                      </a:r>
                      <a:r>
                        <a:rPr kumimoji="0" lang="en-US" altLang="ko-KR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80%</a:t>
                      </a: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테스트 유무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입과 □   사전 □   사후 □ </a:t>
                      </a: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돋움" pitchFamily="50" charset="-127"/>
                        <a:cs typeface="Arial" pitchFamily="34" charset="0"/>
                      </a:endParaRP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돋움" pitchFamily="50" charset="-127"/>
                        <a:cs typeface="Arial" pitchFamily="34" charset="0"/>
                      </a:endParaRP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800">
                <a:tc>
                  <a:txBody>
                    <a:bodyPr/>
                    <a:lstStyle/>
                    <a:p>
                      <a:pPr marL="0" marR="0" lvl="0" indent="0" algn="ctr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준비물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필기도구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개인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PC(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듀얼 모니터 권장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)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기간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2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일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/ 16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시간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언어</a:t>
                      </a: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한국어</a:t>
                      </a: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28351">
                <a:tc>
                  <a:txBody>
                    <a:bodyPr/>
                    <a:lstStyle/>
                    <a:p>
                      <a:pPr marL="0" marR="0" lvl="0" indent="0" algn="ctr" defTabSz="684246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목차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lnSpc>
                          <a:spcPct val="150000"/>
                        </a:lnSpc>
                        <a:buAutoNum type="arabicPeriod"/>
                        <a:defRPr/>
                      </a:pPr>
                      <a:r>
                        <a:rPr lang="ko-KR" altLang="en-US" sz="1000" b="0" dirty="0" err="1">
                          <a:latin typeface="+mn-ea"/>
                          <a:ea typeface="+mn-ea"/>
                        </a:rPr>
                        <a:t>바이브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 코딩 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vs C2C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기반 코딩 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·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프롬프트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컨텍스트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dirty="0" err="1">
                          <a:latin typeface="+mn-ea"/>
                          <a:ea typeface="+mn-ea"/>
                        </a:rPr>
                        <a:t>하네스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  <a:p>
                      <a:pPr marL="180975" indent="-180975">
                        <a:lnSpc>
                          <a:spcPct val="150000"/>
                        </a:lnSpc>
                        <a:buAutoNum type="arabicPeriod"/>
                        <a:defRPr/>
                      </a:pP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C2C × Dual-Track TDD ≡ ARRR · Magic Square · 7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단계 개요</a:t>
                      </a:r>
                    </a:p>
                    <a:p>
                      <a:pPr marL="180975" indent="-180975">
                        <a:lnSpc>
                          <a:spcPct val="150000"/>
                        </a:lnSpc>
                        <a:buAutoNum type="arabicPeriod"/>
                        <a:defRPr/>
                      </a:pP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주제 선정 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설계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(R-G-I-O) + Cursor AI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기술 체계</a:t>
                      </a:r>
                    </a:p>
                    <a:p>
                      <a:pPr marL="180975" indent="-180975">
                        <a:lnSpc>
                          <a:spcPct val="150000"/>
                        </a:lnSpc>
                        <a:buAutoNum type="arabicPeriod"/>
                        <a:defRPr/>
                      </a:pP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ARRR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실행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(RED·GREEN·REFACTOR·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반복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) +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기능 확장</a:t>
                      </a:r>
                    </a:p>
                    <a:p>
                      <a:pPr marL="180975" indent="-180975">
                        <a:lnSpc>
                          <a:spcPct val="150000"/>
                        </a:lnSpc>
                        <a:buAutoNum type="arabicPeriod"/>
                        <a:defRPr/>
                      </a:pP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기반 문서화 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— PRD · To-Do · Test Case · Report</a:t>
                      </a:r>
                    </a:p>
                  </a:txBody>
                  <a:tcPr marL="65236" marR="65236" marT="35846" marB="35846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228600" indent="-228600">
                        <a:lnSpc>
                          <a:spcPct val="150000"/>
                        </a:lnSpc>
                        <a:buFont typeface="+mj-lt"/>
                        <a:buAutoNum type="arabicPeriod" startAt="6"/>
                        <a:defRPr/>
                      </a:pPr>
                      <a:r>
                        <a:rPr lang="ko-KR" altLang="en-US" sz="1000" b="0" dirty="0" err="1">
                          <a:latin typeface="+mn-ea"/>
                          <a:ea typeface="+mn-ea"/>
                        </a:rPr>
                        <a:t>시드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 코드로 ‘</a:t>
                      </a:r>
                      <a:r>
                        <a:rPr lang="ko-KR" altLang="en-US" sz="1000" b="0" dirty="0" err="1">
                          <a:latin typeface="+mn-ea"/>
                          <a:ea typeface="+mn-ea"/>
                        </a:rPr>
                        <a:t>바이브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vs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추적성’ 검토 및  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PRD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공유 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+ 7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단계 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+ ARRR + </a:t>
                      </a:r>
                      <a:r>
                        <a:rPr lang="ko-KR" altLang="en-US" sz="1000" b="0" dirty="0" err="1">
                          <a:latin typeface="+mn-ea"/>
                          <a:ea typeface="+mn-ea"/>
                        </a:rPr>
                        <a:t>브랜치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 전략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(staging-spec) </a:t>
                      </a: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lt"/>
                        <a:buAutoNum type="arabicPeriod" startAt="6"/>
                        <a:defRPr/>
                      </a:pP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①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주제 ② 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R-G-I-O + .cursor/rules · Skill · Command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배치</a:t>
                      </a: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lt"/>
                        <a:buAutoNum type="arabicPeriod" startAt="6"/>
                        <a:defRPr/>
                      </a:pP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③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~⑦ ARRR: </a:t>
                      </a:r>
                      <a:r>
                        <a:rPr lang="en-US" altLang="ko-KR" sz="1000" b="0" dirty="0" err="1">
                          <a:latin typeface="+mn-ea"/>
                          <a:ea typeface="+mn-ea"/>
                        </a:rPr>
                        <a:t>red→green→refactoring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dirty="0" err="1">
                          <a:latin typeface="+mn-ea"/>
                          <a:ea typeface="+mn-ea"/>
                        </a:rPr>
                        <a:t>브랜치에서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 작업 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+ TC</a:t>
                      </a: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lt"/>
                        <a:buAutoNum type="arabicPeriod" startAt="6"/>
                        <a:defRPr/>
                      </a:pP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팀 리뷰 결과 발표 각 팀 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· KPT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회고</a:t>
                      </a: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lt"/>
                        <a:buAutoNum type="arabicPeriod" startAt="6"/>
                        <a:defRPr/>
                      </a:pP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작업환경 정리</a:t>
                      </a:r>
                    </a:p>
                  </a:txBody>
                  <a:tcPr marL="65236" marR="65236" marT="35846" marB="35846" anchor="ctr" horzOverflow="overflow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직사각형 15"/>
          <p:cNvSpPr/>
          <p:nvPr/>
        </p:nvSpPr>
        <p:spPr>
          <a:xfrm>
            <a:off x="272480" y="180100"/>
            <a:ext cx="1944217" cy="442961"/>
          </a:xfrm>
          <a:prstGeom prst="rect">
            <a:avLst/>
          </a:prstGeom>
        </p:spPr>
        <p:txBody>
          <a:bodyPr wrap="square" lIns="95397" tIns="47698" rIns="95397" bIns="47698" anchor="ctr" anchorCtr="0">
            <a:noAutofit/>
          </a:bodyPr>
          <a:lstStyle/>
          <a:p>
            <a:pPr>
              <a:spcBef>
                <a:spcPts val="156"/>
              </a:spcBef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과정 개요서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17" name="TextBox 17"/>
          <p:cNvSpPr txBox="1">
            <a:spLocks noChangeArrowheads="1"/>
          </p:cNvSpPr>
          <p:nvPr/>
        </p:nvSpPr>
        <p:spPr bwMode="auto">
          <a:xfrm>
            <a:off x="4881562" y="169009"/>
            <a:ext cx="4731423" cy="454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29" tIns="45714" rIns="91429" bIns="45714" anchor="ctr" anchorCtr="0">
            <a:noAutofit/>
          </a:bodyPr>
          <a:lstStyle/>
          <a:p>
            <a:pPr lvl="0" algn="r" defTabSz="684213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6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Cursor AI</a:t>
            </a:r>
            <a:r>
              <a:rPr lang="ko-KR" altLang="en-US" sz="16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활용한 소프트웨어 개발 응용</a:t>
            </a:r>
          </a:p>
        </p:txBody>
      </p:sp>
    </p:spTree>
    <p:extLst>
      <p:ext uri="{BB962C8B-B14F-4D97-AF65-F5344CB8AC3E}">
        <p14:creationId xmlns:p14="http://schemas.microsoft.com/office/powerpoint/2010/main" val="279910127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18"/>
          <p:cNvSpPr>
            <a:spLocks noGrp="1"/>
          </p:cNvSpPr>
          <p:nvPr>
            <p:ph type="sldNum" sz="quarter" idx="4294967295"/>
          </p:nvPr>
        </p:nvSpPr>
        <p:spPr>
          <a:xfrm>
            <a:off x="7619109" y="6549123"/>
            <a:ext cx="2286891" cy="308877"/>
          </a:xfrm>
          <a:prstGeom prst="rect">
            <a:avLst/>
          </a:prstGeom>
        </p:spPr>
        <p:txBody>
          <a:bodyPr/>
          <a:lstStyle/>
          <a:p>
            <a:pPr algn="r"/>
            <a:fld id="{CA336632-5255-4D0B-8E56-A3EA0BB1D241}" type="slidenum">
              <a:rPr lang="ko-KR" altLang="en-US" sz="110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pPr algn="r"/>
              <a:t>2</a:t>
            </a:fld>
            <a:endParaRPr lang="ko-KR" altLang="en-US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10" name="Rektangel 92"/>
          <p:cNvSpPr/>
          <p:nvPr/>
        </p:nvSpPr>
        <p:spPr bwMode="auto">
          <a:xfrm>
            <a:off x="0" y="1191"/>
            <a:ext cx="9906000" cy="171379"/>
          </a:xfrm>
          <a:prstGeom prst="rect">
            <a:avLst/>
          </a:prstGeom>
          <a:solidFill>
            <a:srgbClr val="00B0F0"/>
          </a:solidFill>
          <a:ln w="9525" cap="flat" cmpd="sng" algn="ctr">
            <a:noFill/>
            <a:prstDash val="solid"/>
          </a:ln>
          <a:effectLst>
            <a:innerShdw blurRad="190500" dist="114300" dir="5640000">
              <a:srgbClr val="000000">
                <a:alpha val="37000"/>
              </a:srgbClr>
            </a:innerShdw>
          </a:effectLst>
        </p:spPr>
        <p:txBody>
          <a:bodyPr lIns="91429" tIns="45714" rIns="91429" bIns="45714"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" y="169009"/>
            <a:ext cx="9906000" cy="4616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29" tIns="45714" rIns="91429" bIns="45714" rtlCol="0" anchor="ctr">
            <a:spAutoFit/>
          </a:bodyPr>
          <a:lstStyle/>
          <a:p>
            <a:pPr algn="ctr"/>
            <a:endParaRPr lang="en-US" altLang="ko-KR" sz="1200" b="1" dirty="0">
              <a:solidFill>
                <a:srgbClr val="000000">
                  <a:lumMod val="95000"/>
                  <a:lumOff val="5000"/>
                </a:srgb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  <a:p>
            <a:pPr algn="ctr"/>
            <a:endParaRPr lang="ko-KR" altLang="en-US" sz="1200" b="1" dirty="0">
              <a:solidFill>
                <a:srgbClr val="000000">
                  <a:lumMod val="95000"/>
                  <a:lumOff val="5000"/>
                </a:srgb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4041" y="6423139"/>
            <a:ext cx="2121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000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* 커리큘럼은 협의에 따라 변경 가능</a:t>
            </a:r>
            <a:endParaRPr lang="en-US" altLang="ko-KR" sz="1000" dirty="0">
              <a:solidFill>
                <a:srgbClr val="0000F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A9D77D4A-3720-4D2F-A45C-DF93BBBD5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562" y="169009"/>
            <a:ext cx="4731423" cy="454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29" tIns="45714" rIns="91429" bIns="45714" anchor="ctr" anchorCtr="0">
            <a:noAutofit/>
          </a:bodyPr>
          <a:lstStyle/>
          <a:p>
            <a:pPr lvl="0" algn="r" defTabSz="684213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6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Cursor AI</a:t>
            </a:r>
            <a:r>
              <a:rPr lang="ko-KR" altLang="en-US" sz="16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활용한 소프트웨어 개발 응용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3C68F94-4A47-410D-84A1-D119E2CE881C}"/>
              </a:ext>
            </a:extLst>
          </p:cNvPr>
          <p:cNvSpPr/>
          <p:nvPr/>
        </p:nvSpPr>
        <p:spPr>
          <a:xfrm>
            <a:off x="272480" y="169008"/>
            <a:ext cx="1944217" cy="461653"/>
          </a:xfrm>
          <a:prstGeom prst="rect">
            <a:avLst/>
          </a:prstGeom>
        </p:spPr>
        <p:txBody>
          <a:bodyPr wrap="square" lIns="95397" tIns="47698" rIns="95397" bIns="47698" anchor="ctr" anchorCtr="0">
            <a:noAutofit/>
          </a:bodyPr>
          <a:lstStyle/>
          <a:p>
            <a:pPr>
              <a:spcBef>
                <a:spcPts val="156"/>
              </a:spcBef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교육 시간표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EC064FE1-85C1-4E1F-83CA-B0C156EDD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463204"/>
              </p:ext>
            </p:extLst>
          </p:nvPr>
        </p:nvGraphicFramePr>
        <p:xfrm>
          <a:off x="273600" y="763201"/>
          <a:ext cx="9339387" cy="5502584"/>
        </p:xfrm>
        <a:graphic>
          <a:graphicData uri="http://schemas.openxmlformats.org/drawingml/2006/table">
            <a:tbl>
              <a:tblPr/>
              <a:tblGrid>
                <a:gridCol w="1769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6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63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96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61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2085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시간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</a:t>
                      </a:r>
                      <a:r>
                        <a:rPr lang="ko-KR" altLang="en-US" sz="1050" b="1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일차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2</a:t>
                      </a:r>
                      <a:r>
                        <a:rPr lang="ko-KR" altLang="en-US" sz="1050" b="1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일차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Total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5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1</a:t>
                      </a:r>
                      <a:r>
                        <a:rPr lang="ko-KR" altLang="en-US" sz="105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교시</a:t>
                      </a:r>
                      <a:endParaRPr lang="en-US" altLang="ko-KR" sz="1050" b="1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오리엔테이션</a:t>
                      </a:r>
                      <a:endParaRPr lang="en-US" altLang="ko-KR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바이브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코딩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vs C2C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기반 코딩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·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프롬프트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컨텍스트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하네스</a:t>
                      </a:r>
                      <a:endParaRPr lang="en-US" altLang="ko-KR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ko-KR" altLang="en-US" sz="800" b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800" b="1" dirty="0"/>
                        <a:t>PRD 1</a:t>
                      </a:r>
                      <a:r>
                        <a:rPr lang="ko-KR" altLang="en-US" sz="800" b="1" dirty="0"/>
                        <a:t>장 읽기 </a:t>
                      </a:r>
                      <a:r>
                        <a:rPr lang="en-US" altLang="ko-KR" sz="800" b="1" dirty="0"/>
                        <a:t>· </a:t>
                      </a:r>
                      <a:r>
                        <a:rPr lang="en-US" altLang="ko-KR" sz="800" b="1" dirty="0" err="1"/>
                        <a:t>venv</a:t>
                      </a:r>
                      <a:r>
                        <a:rPr lang="en-US" altLang="ko-KR" sz="800" b="1" dirty="0"/>
                        <a:t> / </a:t>
                      </a:r>
                      <a:r>
                        <a:rPr lang="en-US" altLang="ko-KR" sz="800" b="1" dirty="0" err="1"/>
                        <a:t>pytest</a:t>
                      </a:r>
                      <a:r>
                        <a:rPr lang="en-US" altLang="ko-KR" sz="800" b="1" dirty="0"/>
                        <a:t> · </a:t>
                      </a:r>
                      <a:r>
                        <a:rPr lang="en-US" altLang="ko-KR" sz="800" b="1" dirty="0" err="1"/>
                        <a:t>UnitConverter</a:t>
                      </a:r>
                      <a:r>
                        <a:rPr lang="en-US" altLang="ko-KR" sz="800" b="1" dirty="0"/>
                        <a:t>_</a:t>
                      </a:r>
                      <a:r>
                        <a:rPr lang="ko-KR" altLang="en-US" sz="800" b="1" dirty="0"/>
                        <a:t>번호 저장소 생성</a:t>
                      </a:r>
                      <a:endParaRPr lang="ko-KR" altLang="en-US" sz="800" dirty="0"/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　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20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2</a:t>
                      </a:r>
                      <a:r>
                        <a:rPr lang="ko-KR" altLang="en-US" sz="105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교시</a:t>
                      </a:r>
                      <a:endParaRPr lang="en-US" altLang="ko-KR" sz="1050" b="1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 C2C × Dual-Track TDD ≡ ARRR · Magic Square · 7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단계 개요</a:t>
                      </a:r>
                      <a:endParaRPr lang="en-US" altLang="ko-KR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29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주제 선정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설계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(R-G-I-O) + Cursor AI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기술 체계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ko-KR" altLang="en-US" sz="1050" b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800" dirty="0" err="1"/>
                        <a:t>시드</a:t>
                      </a:r>
                      <a:r>
                        <a:rPr lang="ko-KR" altLang="en-US" sz="800" dirty="0"/>
                        <a:t> 코드로 ‘</a:t>
                      </a:r>
                      <a:r>
                        <a:rPr lang="ko-KR" altLang="en-US" sz="800" dirty="0" err="1"/>
                        <a:t>바이브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vs </a:t>
                      </a:r>
                      <a:r>
                        <a:rPr lang="ko-KR" altLang="en-US" sz="800" dirty="0"/>
                        <a:t>추적성’ 검토 및  </a:t>
                      </a:r>
                      <a:r>
                        <a:rPr lang="en-US" altLang="ko-KR" sz="800" dirty="0"/>
                        <a:t>PRD </a:t>
                      </a:r>
                      <a:r>
                        <a:rPr lang="ko-KR" altLang="en-US" sz="800" dirty="0"/>
                        <a:t>공유 </a:t>
                      </a:r>
                      <a:r>
                        <a:rPr lang="en-US" altLang="ko-KR" sz="800" dirty="0"/>
                        <a:t>+ 7</a:t>
                      </a:r>
                      <a:r>
                        <a:rPr lang="ko-KR" altLang="en-US" sz="800" dirty="0"/>
                        <a:t>단계 </a:t>
                      </a:r>
                      <a:r>
                        <a:rPr lang="en-US" altLang="ko-KR" sz="800" dirty="0"/>
                        <a:t>+ ARRR + </a:t>
                      </a:r>
                      <a:r>
                        <a:rPr lang="ko-KR" altLang="en-US" sz="800" dirty="0" err="1"/>
                        <a:t>브랜치</a:t>
                      </a:r>
                      <a:r>
                        <a:rPr lang="ko-KR" altLang="en-US" sz="800" dirty="0"/>
                        <a:t> 전략</a:t>
                      </a:r>
                      <a:r>
                        <a:rPr lang="en-US" altLang="ko-KR" sz="800" dirty="0"/>
                        <a:t>(staging-spec) </a:t>
                      </a:r>
                      <a:endParaRPr kumimoji="0" lang="en-US" altLang="ko-KR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97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3</a:t>
                      </a:r>
                      <a:r>
                        <a:rPr lang="ko-KR" altLang="en-US" sz="105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교시</a:t>
                      </a:r>
                      <a:endParaRPr lang="en-US" altLang="ko-KR" sz="1050" b="1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ko-KR" altLang="en-US" sz="1050" b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29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① 주제 ② </a:t>
                      </a:r>
                      <a:r>
                        <a:rPr lang="en-US" altLang="ko-KR" sz="800" b="1" dirty="0"/>
                        <a:t>R-G-I-O + .cursor/rules · Skill · Command </a:t>
                      </a:r>
                      <a:r>
                        <a:rPr lang="ko-KR" altLang="en-US" sz="800" b="1" dirty="0"/>
                        <a:t>배치</a:t>
                      </a:r>
                      <a:endParaRPr kumimoji="0" lang="en-US" altLang="ko-KR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20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4</a:t>
                      </a:r>
                      <a:r>
                        <a:rPr lang="ko-KR" altLang="en-US" sz="105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교시</a:t>
                      </a:r>
                      <a:endParaRPr lang="en-US" altLang="ko-KR" sz="1050" b="1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주제 선정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설계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(R-G-I-O) + Cursor AI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기술 체계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ko-KR" altLang="en-US" sz="1050" b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29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97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5</a:t>
                      </a:r>
                      <a:r>
                        <a:rPr lang="ko-KR" altLang="en-US" sz="105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교시</a:t>
                      </a:r>
                      <a:endParaRPr lang="en-US" altLang="ko-KR" sz="1050" b="1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8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29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③~⑦ ARRR: </a:t>
                      </a:r>
                      <a:r>
                        <a:rPr kumimoji="0" lang="en-US" altLang="ko-KR" sz="800" b="1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red→green→refactoring</a:t>
                      </a:r>
                      <a:r>
                        <a:rPr kumimoji="0" lang="en-US" altLang="ko-KR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브랜치에서</a:t>
                      </a:r>
                      <a:r>
                        <a:rPr kumimoji="0" lang="ko-KR" alt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작업 </a:t>
                      </a:r>
                      <a:r>
                        <a:rPr kumimoji="0" lang="en-US" altLang="ko-KR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TC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5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6</a:t>
                      </a:r>
                      <a:r>
                        <a:rPr lang="ko-KR" altLang="en-US" sz="105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교시</a:t>
                      </a:r>
                      <a:endParaRPr lang="en-US" altLang="ko-KR" sz="1050" b="1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29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5.ARRR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실행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(RED·GREEN·REFACTOR·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반복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+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기능 확장</a:t>
                      </a:r>
                      <a:endParaRPr lang="en-US" altLang="ko-KR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5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29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11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7</a:t>
                      </a:r>
                      <a:r>
                        <a:rPr lang="ko-KR" altLang="en-US" sz="105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교시</a:t>
                      </a:r>
                      <a:endParaRPr lang="en-US" altLang="ko-KR" sz="1050" b="1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29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5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29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팀 리뷰 결과 발표 각 팀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· KPT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회고</a:t>
                      </a:r>
                    </a:p>
                    <a:p>
                      <a:pPr marL="0" marR="0" lvl="0" indent="0" algn="ctr" defTabSz="91429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작업환경 정리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11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8</a:t>
                      </a:r>
                      <a:r>
                        <a:rPr lang="ko-KR" altLang="en-US" sz="105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교시</a:t>
                      </a:r>
                      <a:endParaRPr lang="en-US" altLang="ko-KR" sz="1050" b="1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6.AI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기반 문서화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— PRD · To-Do · Test Case · Report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5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29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baseline="0">
                        <a:latin typeface="+mn-ea"/>
                        <a:ea typeface="+mn-ea"/>
                      </a:endParaRPr>
                    </a:p>
                  </a:txBody>
                  <a:tcPr marL="4603" marR="4603" marT="4603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6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Total Time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　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8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　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8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16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474704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사용자 지정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9498</TotalTime>
  <Words>482</Words>
  <Application>Microsoft Office PowerPoint</Application>
  <PresentationFormat>A4 용지(210x297mm)</PresentationFormat>
  <Paragraphs>81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나눔고딕</vt:lpstr>
      <vt:lpstr>맑은 고딕</vt:lpstr>
      <vt:lpstr>Arial</vt:lpstr>
      <vt:lpstr>Trebuchet MS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LGE</dc:creator>
  <cp:lastModifiedBy>대경 김</cp:lastModifiedBy>
  <cp:revision>604</cp:revision>
  <dcterms:created xsi:type="dcterms:W3CDTF">2011-12-26T01:44:13Z</dcterms:created>
  <dcterms:modified xsi:type="dcterms:W3CDTF">2026-06-03T01:17:49Z</dcterms:modified>
</cp:coreProperties>
</file>