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241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680960" y="274320"/>
            <a:ext cx="2377440" cy="2377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-822960" y="3566160"/>
            <a:ext cx="2926080" cy="292608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320040"/>
            <a:ext cx="8046720" cy="4480560"/>
          </a:xfrm>
          <a:prstGeom prst="roundRect">
            <a:avLst>
              <a:gd name="adj" fmla="val 5102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9144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40AF"/>
                </a:solidFill>
              </a:rPr>
              <a:t>Team Project : 회고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011680" y="2121408"/>
            <a:ext cx="1508760" cy="530352"/>
          </a:xfrm>
          <a:prstGeom prst="roundRect">
            <a:avLst>
              <a:gd name="adj" fmla="val 1724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011680" y="212140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  Keep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121408"/>
            <a:ext cx="1508760" cy="530352"/>
          </a:xfrm>
          <a:prstGeom prst="roundRect">
            <a:avLst>
              <a:gd name="adj" fmla="val 1724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0" y="212140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 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2121408"/>
            <a:ext cx="1508760" cy="530352"/>
          </a:xfrm>
          <a:prstGeom prst="roundRect">
            <a:avLst>
              <a:gd name="adj" fmla="val 1724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0" y="212140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  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</a:rPr>
              <a:t>KPT 방법론으로 배우는 팀 단위 자기 성찰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200" dirty="0">
                <a:solidFill>
                  <a:srgbClr val="64748B"/>
                </a:solidFill>
              </a:rPr>
              <a:t>Cursor AI</a:t>
            </a:r>
            <a:r>
              <a:rPr lang="ko-KR" altLang="en-US" sz="1200" dirty="0">
                <a:solidFill>
                  <a:srgbClr val="64748B"/>
                </a:solidFill>
              </a:rPr>
              <a:t>를 활용한 소프트웨어 개발 과정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31520" y="3291840"/>
            <a:ext cx="3474720" cy="34747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C5FD"/>
                </a:solidFill>
              </a:rPr>
              <a:t>Agenda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17520" y="502920"/>
            <a:ext cx="5852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017520" y="5029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154680" y="5577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03320" y="5577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회고란?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960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정의·목적·효과·회고 방법론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1417320"/>
            <a:ext cx="5852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017520" y="14173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154680" y="14721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03320" y="14721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좋은 회고를 위한 Tip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03320" y="18745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기술·심리·실천 세 가지 핵심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17520" y="2331720"/>
            <a:ext cx="5852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017520" y="23317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154680" y="23865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03320" y="23865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KPT 방법론 이해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03320" y="27889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Keep·Problem·Try 각 항목 안내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246120"/>
            <a:ext cx="5852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017520" y="32461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154680" y="33009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03320" y="33009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회고 진행 절차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703320" y="3703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Check-In → 자료 모으기 → 정리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017520" y="4160520"/>
            <a:ext cx="5852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3017520" y="4160520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154680" y="421538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03320" y="4215384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40AF"/>
                </a:solidFill>
              </a:rPr>
              <a:t>KPT 실습 &amp; Action Item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03320" y="46177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Post-it 작성 → 그룹핑 → 실행 계획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회고란?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1E40A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팀이 정해진 기간 동안 해왔던 일에 대해 돌아보며,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팀원들이 함께 생각하고 배우는 시간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8412480" cy="658368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2670048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563EB"/>
                </a:solidFill>
              </a:rPr>
              <a:t>"  팀 단위 자기 성찰  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67004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</a:rPr>
              <a:t>Retrospective · Reflection · Postmortem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456432"/>
            <a:ext cx="84124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3456432"/>
            <a:ext cx="841248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" y="356616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5488" y="35661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7223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</a:rPr>
              <a:t>팀은 회고를 하면서 눈 앞에 보이는 이익뿐 아니라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3A5F"/>
                </a:solidFill>
              </a:rPr>
              <a:t>능력과 기쁨이 증가하는 경험을 맛볼 수 있다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94944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64748B"/>
                </a:solidFill>
              </a:rPr>
              <a:t>— 애자일 회고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회고란? — 핵심 질문 4가지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73152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" y="1133856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What were we trying to accomplish?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554480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무엇을 성취하고자 했는가?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73152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2249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2103120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Where did we hit (or miss) our objectives?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523744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</a:rPr>
              <a:t>어디까지 목적을 달성(미달성) 했는가?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548640" y="321868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3218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" y="3072384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What caused our results?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4930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무엇이 그런 결과를 만들었는가?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986784"/>
            <a:ext cx="8412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3986784"/>
            <a:ext cx="7315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548640" y="41879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4041648"/>
            <a:ext cx="7406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What should we start, stop, or continue doing?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4462272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무엇을 새로 시작하고, 그만두고, 지속해야 하는가?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회고 방법론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29968" cy="37947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2996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Continue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- Stop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- Start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1847088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2670048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계속할 것 / 멈출 것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시작할 것으로 행동을 분류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2029968" cy="3794760"/>
          </a:xfrm>
          <a:prstGeom prst="roundRect">
            <a:avLst>
              <a:gd name="adj" fmla="val 5405"/>
            </a:avLst>
          </a:prstGeom>
          <a:solidFill>
            <a:srgbClr val="1E40AF"/>
          </a:solidFill>
          <a:ln w="25400">
            <a:solidFill>
              <a:srgbClr val="1E40AF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2450592" y="1051560"/>
            <a:ext cx="2029968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889504" y="1115568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889504" y="111556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★ 실습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42032" y="1481328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KPT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542032" y="2331720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</a:rPr>
              <a:t>Keep – Problem – 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42032" y="2880360"/>
            <a:ext cx="1847088" cy="0"/>
          </a:xfrm>
          <a:prstGeom prst="line">
            <a:avLst/>
          </a:prstGeom>
          <a:noFill/>
          <a:ln w="6350">
            <a:solidFill>
              <a:srgbClr val="4B6CB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42032" y="2999232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FD7FF"/>
                </a:solidFill>
              </a:rPr>
              <a:t>잘 된 것을 유지하고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FD7FF"/>
                </a:solidFill>
              </a:rPr>
              <a:t>문제점을 파악해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FD7FF"/>
                </a:solidFill>
              </a:rPr>
              <a:t>개선을 시도한다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26864" y="1051560"/>
            <a:ext cx="2029968" cy="37947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26864" y="1051560"/>
            <a:ext cx="202996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18304" y="11887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4Ls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718304" y="2029968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</a:rPr>
              <a:t>Like · Lacked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891B2"/>
                </a:solidFill>
              </a:rPr>
              <a:t>Learned · Longed for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18304" y="2560320"/>
            <a:ext cx="1847088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18304" y="2670048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네 가지 관점으로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팀 경험을 정리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1051560"/>
            <a:ext cx="2029968" cy="37947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6803136" y="1051560"/>
            <a:ext cx="202996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894576" y="11887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YWT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94576" y="2029968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</a:rPr>
              <a:t>Yatta / Wakata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</a:rPr>
              <a:t>Tsugiyaru Koto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94576" y="2560320"/>
            <a:ext cx="1847088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894576" y="2670048"/>
            <a:ext cx="18470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잘 됐어! / 알게 됐어!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다음엔 이렇게!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좋은 회고를 위한 Tip.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61488" cy="379476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614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536192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기술 + 사람, 함께 다룬다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202996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563EB"/>
                </a:solidFill>
              </a:rPr>
              <a:t>"프로젝트" vs "팀워크"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2423160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84048" y="2514600"/>
            <a:ext cx="254203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기술적 측면만 논하면 회고가 메마르고,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사람 측면만 다루면 방향을 잃는다.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두 축을 함께 바라보는 시각이 필요하다.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051560"/>
            <a:ext cx="2761488" cy="379476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761488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82696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82696" y="1536192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심리적 안전감이 중요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82696" y="202996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891B2"/>
                </a:solidFill>
              </a:rPr>
              <a:t>솔직하게, 하지만 가혹하지 않게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82696" y="2423160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282696" y="2514600"/>
            <a:ext cx="254203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더 작고 · 더 목표지향적이고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덜 개인적이고 · 덜 비판적이면서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영향력 있는 피드백을 지향한다.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1051560"/>
            <a:ext cx="2761488" cy="379476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71616" y="1051560"/>
            <a:ext cx="2761488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81344" y="1051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1344" y="1536192"/>
            <a:ext cx="2542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</a:rPr>
              <a:t>실행하려는 의지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81344" y="202996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59669"/>
                </a:solidFill>
              </a:rPr>
              <a:t>좋은 의견도 실천 없이는 의미 없다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2423160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181344" y="2514600"/>
            <a:ext cx="2542032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Action Item을 구체적으로 정하고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다음 회고 때 실행 여부를 반드시 확인한다.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</a:rPr>
              <a:t>아무리 좋은 의견도 실천 없이는 '꽝'이다.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KPT 방법론 이해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21792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40AF"/>
                </a:solidFill>
              </a:rPr>
              <a:t>KPT는 팀이 Keep(잘 한 것) · Problem(문제점) · Try(개선 시도) 세 관점으로 경험을 구조화하는 회고 방법론입니다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61488" cy="306324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828800"/>
            <a:ext cx="276148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7627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잘 되고 있는 것, 계속하자!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487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핵심 질문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2743200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팀이 잘 수행한 것은 무엇인가?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0906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앞으로도 유지하고 싶은 좋은 습관은?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438144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팀워크·프로세스에서 효과적이었던 것은?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3877056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4048" y="3931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</a:rPr>
              <a:t>예시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41330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매일 스탠드업 미팅이 효과적이었다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4352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코드 리뷰 피드백이 명확했다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45720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일정 내 기능 완료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72968" y="1828800"/>
            <a:ext cx="2761488" cy="306324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172968" y="1828800"/>
            <a:ext cx="276148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282696" y="18745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767328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Problem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67328" y="217627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문제점, 개선이 필요한 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82696" y="2487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핵심 질문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82696" y="2743200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어려웠거나 잘 안 된 것은 무엇인가?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82696" y="30906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팀의 생산성을 저해한 요소는?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82696" y="3438144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반복되는 문제나 갈등은 없었나?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3877056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282696" y="3931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예시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82696" y="41330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PR 리뷰 지연으로 병목 발생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82696" y="4352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요구사항 변경이 잦았다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82696" y="45720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커뮤니케이션 미스로 재작업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71616" y="1828800"/>
            <a:ext cx="2761488" cy="3063240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6071616" y="1828800"/>
            <a:ext cx="276148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181344" y="187452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665976" y="18745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65976" y="217627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</a:rPr>
              <a:t>다음에 시도할 개선 행동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81344" y="248716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핵심 질문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81344" y="2743200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Problem 해결을 위해 무엇을 시도할까?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81344" y="3090672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구체적이고 실행 가능한 행동은?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81344" y="3438144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3A5F"/>
                </a:solidFill>
              </a:rPr>
              <a:t>Q. 다음 스프린트에 바로 적용할 것은?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81344" y="3877056"/>
            <a:ext cx="2542032" cy="0"/>
          </a:xfrm>
          <a:prstGeom prst="line">
            <a:avLst/>
          </a:prstGeom>
          <a:noFill/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181344" y="393192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예시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81344" y="413308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PR 리뷰 SLA 24시간 설정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81344" y="4352544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데일리 미팅 시 블로커 먼저 공유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81344" y="4572000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• 요구사항 변경 프로세스 정의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KPT vs 4Ls — 방법론 비교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46304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비교 항목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74520" y="1051560"/>
            <a:ext cx="338328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874520" y="10515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KPT  (Keep · Problem · Try)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49240" y="1051560"/>
            <a:ext cx="361188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349240" y="10515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4Ls  (Like · Lacked · Learned · Longed for)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항목 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1481328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965960" y="14813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3개  (K · P · 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349240" y="1481328"/>
            <a:ext cx="3611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40680" y="148132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4개  (Like · Lacked · Learned · Longed for)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02996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1480" y="20299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중점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74520" y="2029968"/>
            <a:ext cx="33832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965960" y="2029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행동 개선 중심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49240" y="2029968"/>
            <a:ext cx="36118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40680" y="20299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경험·감정 공유 중심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57860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11480" y="25786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구조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2578608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965960" y="25786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현재 상태 진단 → 해결책 도출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49240" y="2578608"/>
            <a:ext cx="3611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40680" y="257860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좋은 점/아쉬운 점/배운 점/바람 공유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11480" y="312724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Try 항목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127248"/>
            <a:ext cx="33832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965960" y="31272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바로 실행 가능한 행동 도출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49240" y="3127248"/>
            <a:ext cx="36118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440680" y="31272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Longed for: 희망 사항 (실행 선택)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67588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11480" y="36758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적합 시점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74520" y="3675888"/>
            <a:ext cx="33832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1965960" y="36758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스프린트·프로젝트 마무리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349240" y="3675888"/>
            <a:ext cx="3611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40680" y="36758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팀 관계 형성·초기 회고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1463040" cy="502920"/>
          </a:xfrm>
          <a:prstGeom prst="rect">
            <a:avLst/>
          </a:prstGeom>
          <a:solidFill>
            <a:srgbClr val="E2E8F0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11480" y="4224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40AF"/>
                </a:solidFill>
              </a:rPr>
              <a:t>Action Item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874520" y="4224528"/>
            <a:ext cx="33832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1965960" y="422452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</a:rPr>
              <a:t>Try = Action Item 직결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349240" y="4224528"/>
            <a:ext cx="3611880" cy="502920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440680" y="422452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</a:rPr>
              <a:t>별도 선정 과정 필요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65760" y="4773168"/>
            <a:ext cx="8595360" cy="237744"/>
          </a:xfrm>
          <a:prstGeom prst="roundRect">
            <a:avLst>
              <a:gd name="adj" fmla="val 46154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48640" y="478231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</a:rPr>
              <a:t>★  이 수업에서는 KPT를 사용합니다 — Try 항목이 곧 팀의 Action Item이 됩니다!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회고를 어떻게 하나요? — KPT 진행 절차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417320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152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996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920240" y="1170432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Check-In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1609344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각자 현재 감정/상태와 간략한 이유를 돌아가며 말하기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서로의 상태를 파악하고, 발언 시 감정적으로 되지 않도록 주의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417320" cy="11704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65760" y="24505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20240" y="2468880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자료 모으기 (KPT Post-it)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2907792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개인별 다른 색상의 Post-it에 의견 작성 (K·P·T 색 구분 권장)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하나의 Post-it에는 한 가지 내용만 / 각 항목당 하나 이상씩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8412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14173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096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920240" y="376732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</a:rPr>
              <a:t>비슷한 생각들 정리 &amp; Try 선정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20240" y="4206240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이젤 패드를 K·P·T 세 영역으로 나눠 Post-it 부착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</a:rPr>
              <a:t>각 항목별 비슷한 생각을 모아 토론 후 Try = Action Item 확정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Check-In (3분)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1024128"/>
          </a:xfrm>
          <a:prstGeom prst="roundRect">
            <a:avLst>
              <a:gd name="adj" fmla="val 10714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0352" y="117043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11704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170432"/>
            <a:ext cx="7406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40AF"/>
                </a:solidFill>
              </a:rPr>
              <a:t>돌아가면서 현재 자신의 컨디션을 1~5로 표현하고 간략한 이유를 말해봅시다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3035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매우 힘듦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21992" y="2331720"/>
            <a:ext cx="640080" cy="6400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21992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39112" y="3035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조금 힘듦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9624" y="2331720"/>
            <a:ext cx="640080" cy="640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9624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666744" y="3035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보통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77256" y="2331720"/>
            <a:ext cx="640080" cy="6400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77256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94376" y="3035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좋음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04888" y="2331720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104888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22008" y="3035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최고!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42519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519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15568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114800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</a:rPr>
              <a:t>"오랜만에 교육을 들으니 설레요,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</a:rPr>
              <a:t>5점이 아닌 이유는 배가 고파서요"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25196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42519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937760" y="3566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9377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50408" y="3566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114800"/>
            <a:ext cx="39502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</a:rPr>
              <a:t>"늦게까지 프로젝트 하느라 잠을 못 잤더니 피곤해요,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</a:rPr>
              <a:t>1점이 아닌 이유는 퇴근 시간이 다 되어서 기뻐요"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자료 모으기 (15분) — KPT Post-it 작성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30352" y="1463040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30352" y="14630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15568" y="1344168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</a:rPr>
              <a:t>Keep·Problem·Try 항목별로 색상을 다르게 사용 (예: 초록·빨강·주황)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4114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30352" y="2697480"/>
            <a:ext cx="438912" cy="43891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30352" y="26974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578608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</a:rPr>
              <a:t>하나의 Post-it에는 한 가지 내용만 적습니다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4114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" y="393192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30352" y="3931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15568" y="3813048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40AF"/>
                </a:solidFill>
              </a:rPr>
              <a:t>K·P·T 항목당 하나 이상씩 작성합니다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143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Keep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1143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Problem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3840" y="114300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863840" y="11430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</a:rPr>
              <a:t>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572768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86EFAC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709160" y="260604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86EFAC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3639312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86EFAC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309360" y="1572768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CA5A5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CA5A5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309360" y="3639312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CA5A5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909560" y="1572768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DE68A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7909560" y="260604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DE68A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909560" y="3639312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DE68A"/>
          </a:solidFill>
          <a:ln w="6350">
            <a:solidFill>
              <a:srgbClr val="BFDBFE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4434840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KPT Post-it 배치 예시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40AF"/>
                </a:solidFill>
              </a:rPr>
              <a:t>비슷한 생각들을 정리 (25분) — Try → Action Item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50292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73152" cy="6766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78992" y="11704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이젤 패드를 Keep / Problem / Try 세 부분으로 나눕니다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56232"/>
            <a:ext cx="50292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73152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48640" y="1984248"/>
            <a:ext cx="411480" cy="4114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78992" y="1947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각 항목별로 비슷한 생각들을 모아 보세요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33472"/>
            <a:ext cx="50292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73152" cy="6766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48640" y="2761488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4864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" y="272491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개인별로 다른 생각들을 왜 그런지 들어보는 시간을 가지세요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502920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410712"/>
            <a:ext cx="73152" cy="6766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8640" y="3538728"/>
            <a:ext cx="411480" cy="4114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538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" y="350215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</a:rPr>
              <a:t>Try 항목 중 가장 중요한 것을 팀 Action Item으로 확정합니다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078992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577840" y="1078992"/>
            <a:ext cx="324612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5650992" y="111556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50992" y="11155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81344" y="111556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2304288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5577840" y="2304288"/>
            <a:ext cx="32461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650992" y="234086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650992" y="23408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181344" y="234086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77840" y="3529584"/>
            <a:ext cx="32461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5577840" y="3529584"/>
            <a:ext cx="32461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5650992" y="356616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650992" y="3566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181344" y="35661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Try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224528"/>
            <a:ext cx="8412480" cy="685800"/>
          </a:xfrm>
          <a:prstGeom prst="roundRect">
            <a:avLst>
              <a:gd name="adj" fmla="val 16000"/>
            </a:avLst>
          </a:prstGeom>
          <a:solidFill>
            <a:srgbClr val="1E40A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★  Action Item : Try 항목 중 다음 스프린트에서 실행할 구체적인 개선 항목을 선정하세요!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977</Words>
  <Application>Microsoft Office PowerPoint</Application>
  <PresentationFormat>화면 슬라이드 쇼(16:9)</PresentationFormat>
  <Paragraphs>220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Project 회고 (KPT) — Code Review 양성과정</dc:title>
  <dc:subject>PptxGenJS Presentation</dc:subject>
  <dc:creator>PptxGenJS</dc:creator>
  <cp:lastModifiedBy>대경 김</cp:lastModifiedBy>
  <cp:revision>2</cp:revision>
  <dcterms:created xsi:type="dcterms:W3CDTF">2026-05-01T06:23:24Z</dcterms:created>
  <dcterms:modified xsi:type="dcterms:W3CDTF">2026-06-03T01:19:27Z</dcterms:modified>
</cp:coreProperties>
</file>