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5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소개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401568" y="1828800"/>
            <a:ext cx="8223199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767328" y="2084832"/>
            <a:ext cx="7491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약력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785616" y="2505456"/>
            <a:ext cx="749167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現 주식회사 </a:t>
            </a:r>
            <a:r>
              <a:rPr lang="ko-KR" alt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케이지네크워크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CEO </a:t>
            </a:r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년간 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업계에서 근무하며 주로 시스템 개발과 데이터 분석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AI 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활용 스마트 팩토리 고도화</a:t>
            </a:r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前 인천대학교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가천대학교 컴퓨터공학과 겸임교수 </a:t>
            </a:r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前 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KOSTA(</a:t>
            </a:r>
            <a:r>
              <a:rPr lang="ko-KR" alt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한국소프트웨어기술진흥협회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NCS 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컨설팅 컨설턴트 전문위원 </a:t>
            </a:r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前 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KAIT(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한국정보통신진흥협회</a:t>
            </a:r>
            <a:r>
              <a:rPr lang="en-US" altLang="ko-KR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한국직업능력개발원 정보통신분야 국가직무능력표준 개발 위원</a:t>
            </a:r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제목 27">
            <a:extLst>
              <a:ext uri="{FF2B5EF4-FFF2-40B4-BE49-F238E27FC236}">
                <a16:creationId xmlns:a16="http://schemas.microsoft.com/office/drawing/2014/main" id="{C07B48CE-AFC8-0AE3-FFD5-C7CDDEBA1911}"/>
              </a:ext>
            </a:extLst>
          </p:cNvPr>
          <p:cNvSpPr txBox="1">
            <a:spLocks/>
          </p:cNvSpPr>
          <p:nvPr/>
        </p:nvSpPr>
        <p:spPr bwMode="auto">
          <a:xfrm>
            <a:off x="1449044" y="1938528"/>
            <a:ext cx="862616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381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200" spc="-1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>
              <a:lnSpc>
                <a:spcPct val="100000"/>
              </a:lnSpc>
              <a:spcBef>
                <a:spcPts val="300"/>
              </a:spcBef>
            </a:pPr>
            <a:r>
              <a:rPr lang="ko-KR" altLang="en-US" sz="1600" b="1" spc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MS Reference Sans Serif" panose="020B0604030504040204" pitchFamily="34" charset="0"/>
                <a:ea typeface="+mn-ea"/>
                <a:cs typeface="Arial" panose="020B0604020202020204" pitchFamily="34" charset="0"/>
              </a:rPr>
              <a:t>김대경</a:t>
            </a:r>
            <a:endParaRPr lang="en-US" altLang="ko-KR" sz="1600" b="1" spc="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/>
              </a:solidFill>
              <a:latin typeface="MS Reference Sans Serif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7C2331-1119-5B36-1184-97A8B9ABD8AE}"/>
              </a:ext>
            </a:extLst>
          </p:cNvPr>
          <p:cNvSpPr/>
          <p:nvPr/>
        </p:nvSpPr>
        <p:spPr>
          <a:xfrm>
            <a:off x="1012838" y="2432242"/>
            <a:ext cx="1431393" cy="1656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사 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FA6FA1-D30C-FFC6-C220-67098328063E}"/>
              </a:ext>
            </a:extLst>
          </p:cNvPr>
          <p:cNvSpPr txBox="1"/>
          <p:nvPr/>
        </p:nvSpPr>
        <p:spPr>
          <a:xfrm>
            <a:off x="854369" y="4455513"/>
            <a:ext cx="1584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MS Reference Sans Serif" panose="020B0604030504040204" pitchFamily="34" charset="0"/>
                <a:cs typeface="Arial" panose="020B0604020202020204" pitchFamily="34" charset="0"/>
              </a:rPr>
              <a:t>컴퓨터 공학박사</a:t>
            </a:r>
          </a:p>
        </p:txBody>
      </p:sp>
      <p:pic>
        <p:nvPicPr>
          <p:cNvPr id="20" name="Picture 2" descr="C:\Users\Administrator\Desktop\김대경.JPG">
            <a:extLst>
              <a:ext uri="{FF2B5EF4-FFF2-40B4-BE49-F238E27FC236}">
                <a16:creationId xmlns:a16="http://schemas.microsoft.com/office/drawing/2014/main" id="{8D7B275A-0120-4417-11ED-36A9792CD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20" y="2447183"/>
            <a:ext cx="1257958" cy="165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1235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3108960" cy="3108960"/>
          </a:xfrm>
          <a:prstGeom prst="ellipse">
            <a:avLst/>
          </a:prstGeom>
          <a:solidFill>
            <a:srgbClr val="0B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81912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774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교안 · 1일차 (8시간)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724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AI를 활용한 소프트웨어 개발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584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8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기반 개발 — 개념에서 코드까지, 추적성을 잃지 않는 개발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4261104"/>
            <a:ext cx="1988820" cy="384048"/>
          </a:xfrm>
          <a:prstGeom prst="roundRect">
            <a:avLst>
              <a:gd name="adj" fmla="val 50000"/>
            </a:avLst>
          </a:prstGeom>
          <a:solidFill>
            <a:srgbClr val="1640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" y="4261104"/>
            <a:ext cx="1988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 vs C2C 코딩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20340" y="4261104"/>
            <a:ext cx="2482596" cy="384048"/>
          </a:xfrm>
          <a:prstGeom prst="roundRect">
            <a:avLst>
              <a:gd name="adj" fmla="val 50000"/>
            </a:avLst>
          </a:prstGeom>
          <a:solidFill>
            <a:srgbClr val="1640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720340" y="4261104"/>
            <a:ext cx="2482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→ 컨텍스트 → 하네스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67528" y="4261104"/>
            <a:ext cx="2976372" cy="384048"/>
          </a:xfrm>
          <a:prstGeom prst="roundRect">
            <a:avLst>
              <a:gd name="adj" fmla="val 50000"/>
            </a:avLst>
          </a:prstGeom>
          <a:solidFill>
            <a:srgbClr val="1640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367528" y="4261104"/>
            <a:ext cx="2976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ARRR ≡ Dual-Track TDD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8492" y="4261104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640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508492" y="4261104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문서화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2926080" cy="27432"/>
          </a:xfrm>
          <a:prstGeom prst="rect">
            <a:avLst/>
          </a:prstGeom>
          <a:solidFill>
            <a:srgbClr val="1C4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66928" y="51755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2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8시간 집중 과정 · 08:30 ~ 17:30 · 점심 11:45 ~ 13:00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5486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F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40% + 실습 60% · 개발자 및 입문자 대상 · 2026 · DaeKyeong Kim, Ph.D.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SCHEDULE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시간표 (08:30 ~ 17:30)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40% + 실습 60% · 개념 → 시연 → 개별 실습 순환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7839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내용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오리엔테이션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환영 · 수준 체크 · 오늘의 한 문장(C2C)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바이브 코딩 vs C2C 기반 코딩 · 프롬프트/컨텍스트/하네스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2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C2C × Dual-Track TDD ≡ ARRR · Magic Square · 7단계 개요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3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주제 선정 + 설계(R-G-I-O) + Cursor AI 기술 체계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3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요구사항 함정 · PRD · Toy Project · Dual-Track 매핑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4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ARRR 실행(RED·GREEN·REFACTOR·반복) + 기능 확장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기반 문서화 — PRD · To-Do · Test Case · Report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강의+실습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8교시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마무리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Q&amp;A · KPT 회고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ONE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과정을 관통하는 하나의 생각 — C2C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개념(요구)이 코드까지 의미를 잃지 않고 이어지게 하는 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67004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63624" y="2139696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8" y="2308860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9260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목표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31821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(개념→코드 추적성)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3657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요구·개념이 코드까지 추적 가능해야 한다.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2852928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29584" y="18288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529584" y="1828800"/>
            <a:ext cx="267004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26280" y="2139696"/>
            <a:ext cx="676656" cy="67665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2308860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12464" y="29260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왜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730752" y="31821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추적성 확보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49040" y="3657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없는 코드는 어디가 왜 깨졌는지 모른다.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852928"/>
            <a:ext cx="237744" cy="2377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492240" y="18288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6492240" y="1828800"/>
            <a:ext cx="2670048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7488936" y="2139696"/>
            <a:ext cx="676656" cy="67665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308860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75120" y="29260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수단·사이클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693408" y="31821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Dual-Track TDD = ARRR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11696" y="3657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Ask·Respond·Refine·Repeat로 돌리는 것.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852928"/>
            <a:ext cx="237744" cy="23774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454896" y="18288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9454896" y="1828800"/>
            <a:ext cx="267004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10451592" y="2139696"/>
            <a:ext cx="676656" cy="67665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0756" y="2308860"/>
            <a:ext cx="338328" cy="33832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37776" y="29260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결과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9656064" y="31821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TDD·리팩토링 → Clean Code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674352" y="3657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추적되고 테스트가 보호하는 깨끗한 코드.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566928" y="4370832"/>
            <a:ext cx="11057839" cy="1280160"/>
          </a:xfrm>
          <a:prstGeom prst="roundRect">
            <a:avLst>
              <a:gd name="adj" fmla="val 5000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566928" y="4370832"/>
            <a:ext cx="91440" cy="12801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804672" y="47823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" y="4896612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435608" y="4489704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한 마디 — 오해 금지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1435608" y="4754880"/>
            <a:ext cx="1000627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= RED · Respond = GREEN · Refine = REFACTOR · Repeat = 다음 질문. ‘ARRR’과 ‘C2C × Dual-Track TDD’는 따로가 아닙니다. ARRR을 돌리는 것이 곧 Dual-Track TDD 실행이고, 그것이 C2C(추적성)를 담보하는 방법입니다. 이 한 줄을 새기고 가면 오늘은 성공입니다.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937760" cy="493776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064240" y="3840480"/>
            <a:ext cx="2743200" cy="274320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21208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2F1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03504" y="3383280"/>
            <a:ext cx="64008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58444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 코딩 vs C2C 기반 코딩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 · 08:55 ~ 10:15 (80분) · 프롬프트 → 컨텍스트 → 하네스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1 · 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 — 학습 목표 &amp; 시간 배분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일을 시키는 두 갈래와 의도 전달 3단계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6400800" cy="3931920"/>
          </a:xfrm>
          <a:prstGeom prst="roundRect">
            <a:avLst>
              <a:gd name="adj" fmla="val 2326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91440" cy="3931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2688" y="20665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505456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 코딩과 C2C 기반 코딩의 차이를 설명할 수 있다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C2C(개념→코드 추적성)가 왜 오늘의 핵심인지 말할 수 있다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프롬프트·컨텍스트·하네스 엔지니어링의 차이와 포함 관계를 구분할 수 있다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기능(Rule·Skill·Command)이 어느 엔지니어링에 해당하는지 연결할 수 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33488" y="1828800"/>
            <a:ext cx="4291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배분 (80분)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2249424"/>
          <a:ext cx="4291279" cy="914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08:55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바이브 vs C2C 기반 코딩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09:10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C2C가 핵심인 이유·개념 지도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09:22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프롬프트→컨텍스트→하네스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09:50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미니 체험 + TDD 시연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10:08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요약 + Q&amp;A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 코딩 vs C2C 기반 코딩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동작하면 그냥 쓴다  vs  모든 코드가 개념으로 추적된다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58384" cy="27432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58384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77824" y="2157984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299716"/>
            <a:ext cx="283464" cy="283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72768" y="2194560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 코딩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7824" y="292608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느낌대로 요청 → 동작하면 채택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테스트·근거 없음 → 추적 불가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추가 시 어디가 깨지는지 모름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코드를 맹신하게 됨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5358384" cy="27432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2" y="1828800"/>
            <a:ext cx="5358384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601968" y="2157984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299716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96912" y="2194560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기반 코딩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01968" y="292608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개념→요구→테스트→코드로 연결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코드가 어떤 개념의 산물인지 추적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깨지면 어느 계층·개념인지 즉시 파악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출력을 테스트로 검증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4828032"/>
            <a:ext cx="11057839" cy="877824"/>
          </a:xfrm>
          <a:prstGeom prst="roundRect">
            <a:avLst>
              <a:gd name="adj" fmla="val 7292"/>
            </a:avLst>
          </a:prstGeom>
          <a:solidFill>
            <a:srgbClr val="EEF6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66928" y="4828032"/>
            <a:ext cx="91440" cy="87782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04672" y="5038344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152644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35608" y="4946904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왜 쓰는가 — 오해 바로잡기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435608" y="5212080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잡기·커버리지 채우기가 아닙니다. 진짜 이유는 ① 설계 검증 ② 리팩토링 안전망 ③ 살아있는 문서 ④ 회귀 방지 — 이 넷이 모두 C2C(추적성)를 떠받칩니다.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의도를 전달하는 3단계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⊂ 컨텍스트 ⊂ 하네스 — 점점 넓어지는 동심원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7839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1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정의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질문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다루는 것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지시문 자체를 다듬는 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어떻게 말할까?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역할·예시·출력 형식 (한 번의 텍스트)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컨텍스트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 환경 전체를 설계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무엇을 보여줄까?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 지시·참조 문서(RAG)·메모리·도구 정의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하네스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골격 전체를 설계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어떻게 일하게 할까?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루프·도구 호출·가드레일·검증/추적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66928" y="4114800"/>
            <a:ext cx="11057839" cy="877824"/>
          </a:xfrm>
          <a:prstGeom prst="roundRect">
            <a:avLst>
              <a:gd name="adj" fmla="val 7292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4114800"/>
            <a:ext cx="91440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43941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42336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관계 — 동심원: Agent = Model + Harness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35608" y="4498848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‘엔진’일 뿐, 도구·루프·검증을 붙인 하네스가 있어야 일하는 에이전트가 됩니다. 추적성(C2C)은 한 줄 프롬프트로는 부족 — 컨텍스트(PRD·Rules)와 하네스(테스트 루프)가 받쳐줘야 개념이 코드까지 끊기지 않습니다.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6928" y="51389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대응  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= Chat 한 번의 요청 · 컨텍스트 = @PRD.md·@파일·.cursorrules·Skill·MCP · 하네스 = Agent 루프 + Tool + Rule + Command + 테스트/리뷰 루프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1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체험 + TDD 재구현 시연 (18분)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바이브로 만든 코드  vs  RED → GREEN → REFACTOR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73936"/>
            <a:ext cx="91440" cy="7863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9385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05282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5608" y="1892808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체험 — 바이브 코딩 한 번 해보기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35608" y="2157984"/>
            <a:ext cx="10006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“add 함수 만들어줘” 한 줄 요청 → ② “음수도/실수도” 즉흥 추가 2~3회 → ③ “어떤 요구에서 나왔나? 무엇이 보장되나? 테스트는?” → 동작은 하지만 개념→코드 연결고리가 없다.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274320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66928" y="2743200"/>
            <a:ext cx="353872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29626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" y="334670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의도된 실패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36576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test_add_returns_sum 작성, src는 만들지 않음. pytest 시 실패가 목적.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41248" y="437083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“add가 없으니 의도된 실패가 납니다”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3675888"/>
            <a:ext cx="237744" cy="23774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434840" y="274320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4434840" y="2743200"/>
            <a:ext cx="353872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4709160" y="29626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709160" y="334670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통과 코드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709160" y="36576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통과시키는 가장 단순한 add(a,b) 구현.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709160" y="437083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“1 passed — 이 테스트는 안전자산”</a:t>
            </a:r>
            <a:endParaRPr lang="en-US" sz="9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675888"/>
            <a:ext cx="237744" cy="23774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302752" y="274320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302752" y="2743200"/>
            <a:ext cx="353872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8577072" y="29626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8577072" y="334670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개선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577072" y="36576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주석·가독성 정리. 리팩토링 후에도 pytest 통과 확인.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577072" y="437083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“리팩토링해도 1 passed, 불안하지 않다”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실습: subtract를 1-A(바이브, 5분) vs 1-B(TDD: RED→GREEN→REFACTOR+COMMIT, 12분)로 — “어느 쪽이 더 안심되나요?”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937760" cy="493776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064240" y="3840480"/>
            <a:ext cx="2743200" cy="274320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21208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2F1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03504" y="3383280"/>
            <a:ext cx="64008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58444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× Dual-Track TDD ≡ ARRR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 · 10:30 ~ 11:45 (75분) · 같은 것의 다른 이름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TRACEABILITY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Concept-to-Code Traceability — 정의와 4계층 모델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F5F1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91440" cy="7863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65049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5608" y="14904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Traceability 정의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35608" y="1755648"/>
            <a:ext cx="10006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영역에서 식별된 개념(Concept)과 코드(Code) 사이의 의미적·구조적·행위적 연결이 명시적으로 유지·검증·진화 가능한 상태 — 의미 보존(Semantic Preservation)이 목표.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340864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66928" y="2340864"/>
            <a:ext cx="109728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77824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824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LAYER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24528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“무엇이 존재하는가”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59168" y="2542032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ECB 개념 모델 · 역할 분류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063240"/>
            <a:ext cx="164592" cy="16459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66928" y="3163824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66928" y="3163824"/>
            <a:ext cx="109728" cy="768096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77824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77824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RESPONSIBILITY LAYER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224528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“누가 언제 무엇을”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059168" y="3364992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유스케이스 · 시나리오 · 협력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886200"/>
            <a:ext cx="164592" cy="16459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66928" y="3986784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566928" y="3986784"/>
            <a:ext cx="109728" cy="7680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877824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3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77824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LAYER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224528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“개념이 보존되었는가”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059168" y="4187952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Acceptance Test + Logic Test (Dual-Track)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709160"/>
            <a:ext cx="164592" cy="16459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66928" y="4809744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566928" y="4809744"/>
            <a:ext cx="109728" cy="7680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/>
          <p:nvPr/>
        </p:nvSpPr>
        <p:spPr>
          <a:xfrm>
            <a:off x="877824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4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77824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LAYER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4224528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“어떻게 구현되었는가”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059168" y="5010912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ECB 스테레오타입 반영 구현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66928" y="566928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성질  </a:t>
            </a: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완전성 · 일관성 · 검증 가능성 · 진화 가능성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ECB(Entity-Control-Boundary) 분석 패턴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역할 기반 설계 — 모든 객체는 셋 중 하나의 역할을 맡는다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538728" cy="3840480"/>
          </a:xfrm>
          <a:prstGeom prst="roundRect">
            <a:avLst>
              <a:gd name="adj" fmla="val 258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53872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27048" y="213969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Entity / 엔티티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243230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장기 보관하는 데이터·정보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292608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32004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보유 (속성)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규칙 포함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테이블과 매핑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4663440"/>
            <a:ext cx="299008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87552" y="4754880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499262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User, Product, Order, Inventory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1828800"/>
            <a:ext cx="3538728" cy="3840480"/>
          </a:xfrm>
          <a:prstGeom prst="roundRect">
            <a:avLst>
              <a:gd name="adj" fmla="val 258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1828800"/>
            <a:ext cx="3538728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213969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/ 제어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43230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유스케이스 흐름을 조정하는 로직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92608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32004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Entity·Boundary 연결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규칙 실행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관리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663440"/>
            <a:ext cx="299008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55464" y="4754880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5464" y="499262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AuthService, OrderProcessor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02752" y="1828800"/>
            <a:ext cx="3538728" cy="3840480"/>
          </a:xfrm>
          <a:prstGeom prst="roundRect">
            <a:avLst>
              <a:gd name="adj" fmla="val 258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302752" y="1828800"/>
            <a:ext cx="353872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577072" y="210312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57707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262872" y="213969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/ 경계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62872" y="243230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액터와의 인터페이스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77072" y="292608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95360" y="32004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화면·API 엔드포인트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 검증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외부와의 통신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77072" y="4663440"/>
            <a:ext cx="299008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723376" y="4754880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23376" y="499262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LoginForm, APIController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— 개념과 BCE 연결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RBAC = “누가 어떤 Control을 실행할 수 있는가”를 결정하는 접근 제어 레이어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792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BCE 패턴에 RBAC를 더하면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139696"/>
            <a:ext cx="5486400" cy="676656"/>
          </a:xfrm>
          <a:prstGeom prst="roundRect">
            <a:avLst>
              <a:gd name="adj" fmla="val 108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2311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487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User·Role·Permission·Resource → RBAC 핵심 데이터 보관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907792"/>
            <a:ext cx="5486400" cy="676656"/>
          </a:xfrm>
          <a:prstGeom prst="roundRect">
            <a:avLst>
              <a:gd name="adj" fmla="val 108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2999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25296" y="32552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폼·API 엔드포인트 → Role 정보를 받아 Control로 전달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675888"/>
            <a:ext cx="5486400" cy="676656"/>
          </a:xfrm>
          <a:prstGeom prst="roundRect">
            <a:avLst>
              <a:gd name="adj" fmla="val 108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383133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5296" y="3767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25296" y="4023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AuthService·PermissionChecker → Role-Permission 매핑·허용/거부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19088" y="1792224"/>
            <a:ext cx="5205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RBAC 4대 구성 요소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19088" y="2139696"/>
            <a:ext cx="5205679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01968" y="2139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73568" y="2139696"/>
            <a:ext cx="3514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사용자 — 개발자·운영자·관리자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19088" y="2651760"/>
            <a:ext cx="5205679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601968" y="2651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73568" y="2651760"/>
            <a:ext cx="3514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묶음 단위 — admin·developer·viewer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19088" y="3163824"/>
            <a:ext cx="5205679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01968" y="31638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73568" y="3163824"/>
            <a:ext cx="3514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자원에 대한 행동 — read·write·delete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19088" y="3675888"/>
            <a:ext cx="5205679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601968" y="36758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73568" y="3675888"/>
            <a:ext cx="3514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대상 — DB·API·파일·서비스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19088" y="4334256"/>
            <a:ext cx="5205679" cy="1280160"/>
          </a:xfrm>
          <a:prstGeom prst="roundRect">
            <a:avLst>
              <a:gd name="adj" fmla="val 5000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419088" y="4334256"/>
            <a:ext cx="91440" cy="12801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56832" y="474573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32" y="4860036"/>
            <a:ext cx="228600" cy="2286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287768" y="4453128"/>
            <a:ext cx="4199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구분: 큰 틀 vs 세부 표현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287768" y="4718304"/>
            <a:ext cx="41541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틀 → 역할 기반 접근 제어(RBAC). 메뉴·UI → 권한(역할)에 따른 메뉴 가시성 제어. 내비게이션 → RBAC에 따른 내비게이션 제어.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66928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BCE에서 Control이 비즈니스 규칙을 실행하고 Boundary가 외부와 통신한다면, RBAC는 그 위에 ‘권한’ 레이어를 얹는다.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5.1 REQUIREMENTS TRAP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우리는 항상 늦게 실패하는가? — 요구사항의 구조적 함정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91440" cy="7315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6230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5608" y="14904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“실패 조건이 정의되지 않으면, 성공은 합의될 수 없다”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35608" y="1755648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기획서에는 기능이 있지만 실패 조건이 없다. 테스트는 항상 구현 후에 추가된다 — 이것이 ‘늦은 실패’의 본질이다.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2860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66928" y="2286000"/>
            <a:ext cx="353872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41248" y="25054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27797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기획은 있는데 설계는 없다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9536" y="3236976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문서 = 기능 목록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“실패 조건”이 없어 해석이 갈림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구현 후 ‘이게 아닌데’ 반복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34840" y="22860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434840" y="2286000"/>
            <a:ext cx="3538728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709160" y="25054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09160" y="27797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항상 늦게 추가된다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727448" y="3236976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“구현 먼저, 테스트는 나중에”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테스트가 구현의 하인이 됨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비즈니스 의미를 잃음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02752" y="22860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302752" y="2286000"/>
            <a:ext cx="3538728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577072" y="25054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77072" y="27797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UI/Logic 분리의 오해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595360" y="3236976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“UI 따로, 로직 따로” 개발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UI가 비즈니스 규칙 포함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어느 것도 독립 테스트 불가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475488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66928" y="4754880"/>
            <a:ext cx="9144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804672" y="4892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006340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435608" y="487375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435608" y="5138928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방식: 기획서 → 개발자 해석 → 구현 → 문제 발견    VS    Dual-Track TDD: 실패 조건 합의 → RED 테스트 → 구현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5.2 PRD IS THE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Is the Code — Problem Recognition &amp; Scenario (L0~L3)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“PRD는 문서가 아니라 테스트의 원천(Source of Truth)이다” — Problem + Scenario(L0~L3) + UX Contract + Logic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PRD의 핵심 = 기능 목록이 아니라 실패 조건 목록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5358384" cy="1554480"/>
          </a:xfrm>
          <a:prstGeom prst="roundRect">
            <a:avLst>
              <a:gd name="adj" fmla="val 5882"/>
            </a:avLst>
          </a:prstGeom>
          <a:solidFill>
            <a:srgbClr val="FDEEF1"/>
          </a:solidFill>
          <a:ln w="12700">
            <a:solidFill>
              <a:srgbClr val="F4C7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1248" y="226771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해결책 중심 PRD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2651760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기능을 만들자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 검색 기능 추가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한도 관리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2103120"/>
            <a:ext cx="5358384" cy="1554480"/>
          </a:xfrm>
          <a:prstGeom prst="roundRect">
            <a:avLst>
              <a:gd name="adj" fmla="val 5882"/>
            </a:avLst>
          </a:prstGeom>
          <a:solidFill>
            <a:srgbClr val="ECFDF3"/>
          </a:solidFill>
          <a:ln w="12700">
            <a:solidFill>
              <a:srgbClr val="BBF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65392" y="226771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실패 조건 중심 PRD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01968" y="2651760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형식 오류 → 즉시 에러 표시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3권 초과 → 거부 + 이유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연체 중인 회원 → 모든 대출 차단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Level 0~3 — 실패를 시간축에 배열하다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206240"/>
            <a:ext cx="2670048" cy="91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4672" y="44074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4672" y="4809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개요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510235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“회원이 책을 빌린다”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9584" y="420624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529584" y="4206240"/>
            <a:ext cx="267004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67328" y="44074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67328" y="4809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Happy Path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67328" y="510235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정회원 + 가용 책 → 대출 성공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420624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92240" y="4206240"/>
            <a:ext cx="2670048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729984" y="44074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29984" y="4809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Case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9984" y="510235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2권→성공 / 3권→거부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54896" y="420624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454896" y="4206240"/>
            <a:ext cx="267004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692640" y="44074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92640" y="4809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Failure Path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692640" y="510235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연체 중·시스템 오류·권한 없음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5.3 TOY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Toy Project — Magic Square 완전 구현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4×4 마방진 — 오늘 8교시를 통해 문제인식 → PRD → 코드까지 완성하는 학습 프로젝트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2075688" cy="2194560"/>
          </a:xfrm>
          <a:prstGeom prst="roundRect">
            <a:avLst>
              <a:gd name="adj" fmla="val 440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207568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6384" y="2249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86384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" y="272491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문제인식 &amp; ECB 분석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338328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조건 도출 · ECB 분류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2999232"/>
            <a:ext cx="219456" cy="2194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880360" y="2011680"/>
            <a:ext cx="2075688" cy="2194560"/>
          </a:xfrm>
          <a:prstGeom prst="roundRect">
            <a:avLst>
              <a:gd name="adj" fmla="val 440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80360" y="2011680"/>
            <a:ext cx="2075688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099816" y="2249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099816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99816" y="272491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&amp; Scenarios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099816" y="338328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L0~L3 시나리오 · UX/Logic 분리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999232"/>
            <a:ext cx="219456" cy="21945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93792" y="2011680"/>
            <a:ext cx="2075688" cy="2194560"/>
          </a:xfrm>
          <a:prstGeom prst="roundRect">
            <a:avLst>
              <a:gd name="adj" fmla="val 440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193792" y="2011680"/>
            <a:ext cx="2075688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5413248" y="2249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413248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413248" y="272491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Dual-Track 요구사항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5413248" y="338328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Contract · Logic Rule 표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999232"/>
            <a:ext cx="219456" cy="21945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507224" y="2011680"/>
            <a:ext cx="2075688" cy="2194560"/>
          </a:xfrm>
          <a:prstGeom prst="roundRect">
            <a:avLst>
              <a:gd name="adj" fmla="val 440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7507224" y="2011680"/>
            <a:ext cx="2075688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7726680" y="2249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7726680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726680" y="272491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작성 + 개발 시작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7726680" y="338328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Gherkin 기반 · Cursor AI 활용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2999232"/>
            <a:ext cx="219456" cy="219456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820656" y="2011680"/>
            <a:ext cx="2075688" cy="2194560"/>
          </a:xfrm>
          <a:prstGeom prst="roundRect">
            <a:avLst>
              <a:gd name="adj" fmla="val 440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9820656" y="2011680"/>
            <a:ext cx="207568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0040112" y="2249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10040112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8교시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10040112" y="272491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 구조 작성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10040112" y="338328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체크박스·속성 · 검증 포인트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66928" y="4754880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566928" y="4754880"/>
            <a:ext cx="91440" cy="7863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8"/>
          <p:cNvSpPr/>
          <p:nvPr/>
        </p:nvSpPr>
        <p:spPr>
          <a:xfrm>
            <a:off x="804672" y="49194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033772"/>
            <a:ext cx="228600" cy="2286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435608" y="487375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1435608" y="5138928"/>
            <a:ext cx="10006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Desktop 또는 PyQt5 UI + pytest 통과 + GitHub Push — C2C Traceability 완전 구현.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DUAL-TRACK TDD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추적성을 코드로 강제하는 장치 — Dual-Track TDD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트랙으로 나눠 UI 계약과 도메인 규칙을 각각 보호 (BCE와 일치)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58384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58384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530352" cy="530352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272284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7904" y="21945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A — UI / Boundary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77824" y="2880360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계약 위반을 Boundary에서 차단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E001~E007 Error Contract 보호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Mock으로 Domain 격리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위치: tests/boundary/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5358384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2" y="1828800"/>
            <a:ext cx="5358384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83680" y="2139696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2272284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42048" y="21945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B — Domain / Logic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601968" y="2880360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알고리즘을 순수 함수로 검증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 없이 실제 Entity 호출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불변식(I1~I11) 단위 보장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위치: tests/entity/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6928" y="4443984"/>
            <a:ext cx="11057839" cy="1097280"/>
          </a:xfrm>
          <a:prstGeom prst="roundRect">
            <a:avLst>
              <a:gd name="adj" fmla="val 5833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66928" y="4443984"/>
            <a:ext cx="91440" cy="10972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04672" y="476402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878324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35608" y="456285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BCE 한 줄 정리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435608" y="4828032"/>
            <a:ext cx="10006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Boundary: 사용자와 대화하는 창구(입력 검증·출력 형식화). Control: 작업 순서를 지휘하는 감독(유스케이스 조율). Entity: 핵심 규칙을 지키는 전문가(순수 로직·불변식, Boundary/Control import 금지).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OF DEFECTS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결함 비용 — Shift-Left Testing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결함 발견 시점이 늦을수록 수정 비용이 기하급수적으로 증가 → 초기 테스트(Shift-Left)가 핵심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89888" y="2103120"/>
            <a:ext cx="18288" cy="3474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89888" y="5577840"/>
            <a:ext cx="10143439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664208" y="5054138"/>
            <a:ext cx="1463040" cy="523702"/>
          </a:xfrm>
          <a:prstGeom prst="roundRect">
            <a:avLst>
              <a:gd name="adj" fmla="val 1047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664208" y="468837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72768" y="5650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67328" y="4530436"/>
            <a:ext cx="1463040" cy="1047404"/>
          </a:xfrm>
          <a:prstGeom prst="roundRect">
            <a:avLst>
              <a:gd name="adj" fmla="val 523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67328" y="41646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5650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0448" y="3931920"/>
            <a:ext cx="1463040" cy="1645920"/>
          </a:xfrm>
          <a:prstGeom prst="roundRect">
            <a:avLst>
              <a:gd name="adj" fmla="val 375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70448" y="3566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×10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79008" y="5650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73568" y="3183775"/>
            <a:ext cx="1463040" cy="2394065"/>
          </a:xfrm>
          <a:prstGeom prst="roundRect">
            <a:avLst>
              <a:gd name="adj" fmla="val 375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973568" y="2818015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×25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82128" y="5650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76688" y="2286000"/>
            <a:ext cx="1463040" cy="3291840"/>
          </a:xfrm>
          <a:prstGeom prst="roundRect">
            <a:avLst>
              <a:gd name="adj" fmla="val 375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076688" y="1920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×100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85248" y="5650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 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stickyminds.com — shift-left approach in software testing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6.2 DUAL-TRACK MAPPING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Contract · Logic Rule · 3단 매핑 표 작성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26464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426464"/>
            <a:ext cx="3657600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UX Contract 언어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193852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보인다 / 안 보인다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가능하다 / 불가능하다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 / 비활성화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포함한다 / 포함하지 않는다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8848" y="1426464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98848" y="1426464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Logic Rule 언어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73168" y="193852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허용한다 / 거부한다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유지한다 / 중단한다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반환한다 / 차단한다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계산한다 / 저장한다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Magic Square 3단 매핑 표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93008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Scenario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UX Contract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Logic Rule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모든 행 합이 34가 아닌 경우 (L3)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“오류 표시”가 보인다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 검증이 거부된다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빈칸이 2개가 아닌 경우 (L3)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“빈칸 오류”가 보인다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탐색이 중단된다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올바른 숫자 입력 + 완성 (L1)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“완성!” 메시지가 보인다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해가 반환된다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입력값이 정수 아닌 경우 (L2)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 필드가 빨간색으로 표시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입력이 차단된다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이 동사들로 끝나지 않는 To-Do는 테스트로 변환하지 말 것 — 판단(Decision)을 포함한 것만 변환 대상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6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6.3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개발 vs 일반 TDD vs C2C + Dual-Track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5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항목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전통적 개발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TDD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C2C + Dual-Track TDD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 명시성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 (ECB 스테레오타입)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 추적성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강함 (4계층 연결)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실패 조건 정의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늦음 (구현 후)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먼저 (PRD → RED)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UI/Logic 분리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혼재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단일 루프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완전 분리 + Lock-Step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영향 분석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어려움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용이 (Trace 역추적)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도메인 의미 보존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불안정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불안정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안정적 (Drift 감지)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협업 친화성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 (Prompt Chain)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곡선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처음엔 높음 → 이후 낮음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기준  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개념과 의도를 6개월 후에도 코드에서 읽을 수 있어야 한다면 → C2C Traceability + Dual-Track TDD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피라미드 — 전략적 분배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24248" y="17373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E11D48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24248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24248" y="2286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B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적음 · 느림 · 비쌈 · 전체 흐름 검증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09848" y="2926080"/>
            <a:ext cx="4572000" cy="1005840"/>
          </a:xfrm>
          <a:prstGeom prst="roundRect">
            <a:avLst>
              <a:gd name="adj" fmla="val 5455"/>
            </a:avLst>
          </a:prstGeom>
          <a:solidFill>
            <a:srgbClr val="D97706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09848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9848" y="3474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B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· API + DB 통합 테스트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95448" y="4114800"/>
            <a:ext cx="6400800" cy="1005840"/>
          </a:xfrm>
          <a:prstGeom prst="roundRect">
            <a:avLst>
              <a:gd name="adj" fmla="val 5455"/>
            </a:avLst>
          </a:prstGeom>
          <a:solidFill>
            <a:srgbClr val="059669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95448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5448" y="4663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B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많음 · 빠름 · 저렴 · 함수 단위 검증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5486400"/>
            <a:ext cx="11057839" cy="640080"/>
          </a:xfrm>
          <a:prstGeom prst="roundRect">
            <a:avLst>
              <a:gd name="adj" fmla="val 10000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5486400"/>
            <a:ext cx="9144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5577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569214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35608" y="56052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효과 (출처: Microsoft)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35608" y="5870448"/>
            <a:ext cx="100062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시간 15~35% 증가 → 결함률 40~90% 감소.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TDD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TDD 계층 — Unit · Regression · Sanity · Smoke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11057839" cy="969264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109728" cy="9692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856232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18105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 Test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64208" y="21396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설계와 구현의 기본 단위 검증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36208" y="1645920"/>
            <a:ext cx="51142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Many unit tests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578608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66928" y="2724912"/>
            <a:ext cx="11057839" cy="969264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566928" y="2724912"/>
            <a:ext cx="109728" cy="9692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77824" y="2935224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07238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28895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Regression Test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64208" y="32186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버그 재발 방지 — 안전망 역할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36208" y="2724912"/>
            <a:ext cx="51142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Become a regression safety net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657600"/>
            <a:ext cx="146304" cy="14630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66928" y="3803904"/>
            <a:ext cx="11057839" cy="969264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66928" y="3803904"/>
            <a:ext cx="109728" cy="9692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77824" y="401421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1513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64208" y="3968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Sanity Test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64208" y="4297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수정 부분을 빠르게 확인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236208" y="3803904"/>
            <a:ext cx="51142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few sanity tests for changed areas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36592"/>
            <a:ext cx="146304" cy="146304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66928" y="4882896"/>
            <a:ext cx="11057839" cy="969264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566928" y="4882896"/>
            <a:ext cx="109728" cy="9692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877824" y="509320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230368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664208" y="5047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Smoke Test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1664208" y="53766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시스템 기본 동작 확인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6236208" y="4882896"/>
            <a:ext cx="51142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few smoke tests for whole-system health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ARRR ≡ DUAL-TRACK TDD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ARRR ≡ Dual-Track TDD 실행 — 같은 것의 다른 이름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질문(테스트) → 응답(구현) → 정제(리팩토링) → 반복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ARRR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TDD 단계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— Ask (질문)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테스트를 써서 시스템에 질문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실패 (FAIL)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Respond (응답)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통과하는 최소 코드로 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GREEN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 (PASS)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Refine (정제)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중복 제거·이름 정리로 다듬기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REFACTOR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 불변·GREEN 유지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Repeat (반복)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질문으로 대화를 계속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RED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최소 3회 이상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443984"/>
            <a:ext cx="11057839" cy="1097280"/>
          </a:xfrm>
          <a:prstGeom prst="roundRect">
            <a:avLst>
              <a:gd name="adj" fmla="val 5833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4443984"/>
            <a:ext cx="9144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4672" y="476402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87832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456285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35608" y="4828032"/>
            <a:ext cx="10006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리팩토링해도 불안하지 않은 이유는 테스트(추적성)가 코드를 지켜주기 때문. ‘동작하게(GREEN) → 올바르게·깨끗하게(Refine) → 반복’ 순서가 Clean Code를 만듭니다. 이 사이클이 7단계 ③~⑥이며, 세션 4에서 Magic Square로 직접 돌립니다.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SQUARE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Square 문제 정의 &amp; 7단계 개요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관통 예제 — 4×4 마방진의 두 빈칸 채우기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92224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92224"/>
            <a:ext cx="91440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95681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071116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1938528"/>
            <a:ext cx="9960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Square 4×4 (PRD §8.1)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44752" y="2231136"/>
            <a:ext cx="98691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입력: 4×4 int[][] — 0=빈칸(2개), 1~16 중복 금지  ·  출력: int[6]=[r1,c1,n1,r2,c2,n2] (1-index)  ·  마방진 상수: 모든 행·열·대각선 합 = 34  ·  검증 순서: null → size → 빈칸 수 → 값 범위 → 중복  ·  조합 전략: 작은 수→첫 빈칸(A), 실패 시 역순(B)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33467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7단계 진행 — ③~⑥ = ARRR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66928" y="3712464"/>
            <a:ext cx="1527048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6692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836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1284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2212848" y="3712464"/>
            <a:ext cx="1527048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221284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30428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설계 (R-G-I-O)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21284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85876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3858768" y="3712464"/>
            <a:ext cx="1527048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85876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95020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— Ask = RED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85876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0468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504688" y="3712464"/>
            <a:ext cx="1527048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50468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59612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— Respond = GREEN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0468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15060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7150608" y="3712464"/>
            <a:ext cx="1527048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715060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724204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— Refine = REFACTOR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15060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79652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8796528" y="3712464"/>
            <a:ext cx="152704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879652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88796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— Repeat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79652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442448" y="3712464"/>
            <a:ext cx="1527048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10442448" y="3712464"/>
            <a:ext cx="1527048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10442448" y="3877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⑦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10533888" y="431596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확장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10442448" y="488289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937760" cy="493776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064240" y="3840480"/>
            <a:ext cx="2743200" cy="274320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21208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2F1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03504" y="3383280"/>
            <a:ext cx="640080" cy="10972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58444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 &amp; 프로젝트 설계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 · 13:00 ~ 14:25 (85분) · R-G-I-O + Cursor AI 기술 체계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3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— 실무 시나리오 주제 선정 (+ Mom Test)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매일 반복하는 업무 중 AI가 자동화할 수 있는 것은?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58384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58384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1248" y="201168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주제의 조건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9536" y="2414016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입력(Input)이 있다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가능한 출력(Output)이 있다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 가능한 코드/프롬프트로 만들 수 있다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업무에 바로 쓸 수 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1072" y="1828800"/>
            <a:ext cx="5358384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828800"/>
            <a:ext cx="53583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65392" y="201168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 Test 3원칙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2414016"/>
            <a:ext cx="4809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내 아이디어 말하지 말 것 — “마방진 앱 만들 거야” ❌</a:t>
            </a:r>
            <a:endParaRPr lang="en-US" sz="1150" dirty="0"/>
          </a:p>
          <a:p>
            <a:pPr marL="0" indent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과거·구체·사실만 — “격자 검증할 때 뭐가 귀찮았어?” ✅</a:t>
            </a:r>
            <a:endParaRPr lang="en-US" sz="1150" dirty="0"/>
          </a:p>
          <a:p>
            <a:pPr marL="0" indent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칭찬·미래 의견 무시 — “그때 10분 걸렸어요” ✅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Cursor를 인터뷰어로 써서 ‘진짜 문제’ 한 문장 도출 (전 과정 Ask 모드)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443984"/>
            <a:ext cx="11057839" cy="1005840"/>
          </a:xfrm>
          <a:prstGeom prst="roundRect">
            <a:avLst>
              <a:gd name="adj" fmla="val 6364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443984"/>
            <a:ext cx="914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47183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832604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35608" y="456285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주제는 한 문장으로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35608" y="4828032"/>
            <a:ext cx="10006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“사람이 10개 선의 합을 수동 확인하느라 생기는 시간·실수 문제를, 같은 기준으로 반복 판정할 수 있게 한다.”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3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— 프로젝트 설계 R-G-I-O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기준은 나중에 ‘테스트’가 된다 — 여기서 C2C가 시작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Role (역할)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모델에게 사고방식을 부여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“당신은 데이터 분석 전문가입니다”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Goal (목표)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무엇을 만들 것인가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“AI 산업 동향 리포트 작성”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 (입력)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예시 입력 3개 이상 준비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뉴스 3개 / 결함 이미지 3장 / 질문 3개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Output (출력)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정확한 형식으로 명시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“Markdown 표 + 3줄 요약문”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 기준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통과/실패를 가르는 조건 (=테스트 씨앗)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 입력 모두 올바른 분류 · 표 형식 유지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3 ·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기술 체계 — 8계층 (이 과정의 핵심)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단계에서 도구함을 구성해야 세션 4의 ARRR이 안정적으로 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2670048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1854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32714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33472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8437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31546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추론·코드 생성 LLM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529584" y="187452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529584" y="1874520"/>
            <a:ext cx="2670048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785616" y="2185416"/>
            <a:ext cx="566928" cy="566928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348" y="2327148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96128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785616" y="28437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785616" y="31546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작업 수행자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92240" y="187452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492240" y="1874520"/>
            <a:ext cx="267004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748272" y="218541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232714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58784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748272" y="28437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748272" y="31546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Agent의 실행 환경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454896" y="187452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9454896" y="1874520"/>
            <a:ext cx="2670048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9710928" y="2185416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2327148"/>
            <a:ext cx="283464" cy="2834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521440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710928" y="28437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710928" y="31546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지키는 헌법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66928" y="388620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566928" y="3886200"/>
            <a:ext cx="2670048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822960" y="419709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4338828"/>
            <a:ext cx="283464" cy="28346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633472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822960" y="48554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822960" y="5166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작업 매뉴얼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3529584" y="388620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3529584" y="3886200"/>
            <a:ext cx="2670048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3785616" y="4197096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7348" y="433882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596128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3785616" y="48554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/ MCP</a:t>
            </a:r>
            <a:endParaRPr lang="en-US" sz="1350" dirty="0"/>
          </a:p>
        </p:txBody>
      </p:sp>
      <p:sp>
        <p:nvSpPr>
          <p:cNvPr id="49" name="Text 41"/>
          <p:cNvSpPr/>
          <p:nvPr/>
        </p:nvSpPr>
        <p:spPr>
          <a:xfrm>
            <a:off x="3785616" y="5166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파일·외부 서비스 연결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6492240" y="388620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3"/>
          <p:cNvSpPr/>
          <p:nvPr/>
        </p:nvSpPr>
        <p:spPr>
          <a:xfrm>
            <a:off x="6492240" y="3886200"/>
            <a:ext cx="2670048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4"/>
          <p:cNvSpPr/>
          <p:nvPr/>
        </p:nvSpPr>
        <p:spPr>
          <a:xfrm>
            <a:off x="6748272" y="419709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0004" y="4338828"/>
            <a:ext cx="283464" cy="283464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8558784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400" dirty="0"/>
          </a:p>
        </p:txBody>
      </p:sp>
      <p:sp>
        <p:nvSpPr>
          <p:cNvPr id="55" name="Text 46"/>
          <p:cNvSpPr/>
          <p:nvPr/>
        </p:nvSpPr>
        <p:spPr>
          <a:xfrm>
            <a:off x="6748272" y="48554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Command</a:t>
            </a:r>
            <a:endParaRPr lang="en-US" sz="1350" dirty="0"/>
          </a:p>
        </p:txBody>
      </p:sp>
      <p:sp>
        <p:nvSpPr>
          <p:cNvPr id="56" name="Text 47"/>
          <p:cNvSpPr/>
          <p:nvPr/>
        </p:nvSpPr>
        <p:spPr>
          <a:xfrm>
            <a:off x="6748272" y="5166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 호출 버튼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9454896" y="388620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9"/>
          <p:cNvSpPr/>
          <p:nvPr/>
        </p:nvSpPr>
        <p:spPr>
          <a:xfrm>
            <a:off x="9454896" y="3886200"/>
            <a:ext cx="2670048" cy="7315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0"/>
          <p:cNvSpPr/>
          <p:nvPr/>
        </p:nvSpPr>
        <p:spPr>
          <a:xfrm>
            <a:off x="9710928" y="4197096"/>
            <a:ext cx="566928" cy="566928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2660" y="4338828"/>
            <a:ext cx="283464" cy="283464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1521440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E0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sp>
        <p:nvSpPr>
          <p:cNvPr id="62" name="Text 52"/>
          <p:cNvSpPr/>
          <p:nvPr/>
        </p:nvSpPr>
        <p:spPr>
          <a:xfrm>
            <a:off x="9710928" y="48554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/ Review Loop</a:t>
            </a:r>
            <a:endParaRPr lang="en-US" sz="1350" dirty="0"/>
          </a:p>
        </p:txBody>
      </p:sp>
      <p:sp>
        <p:nvSpPr>
          <p:cNvPr id="63" name="Text 53"/>
          <p:cNvSpPr/>
          <p:nvPr/>
        </p:nvSpPr>
        <p:spPr>
          <a:xfrm>
            <a:off x="9710928" y="5166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검증·되먹임</a:t>
            </a:r>
            <a:endParaRPr lang="en-US" sz="1050" dirty="0"/>
          </a:p>
        </p:txBody>
      </p:sp>
      <p:sp>
        <p:nvSpPr>
          <p:cNvPr id="64" name="Text 5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65" name="Text 5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66" name="Text 5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vs Skill vs Command vs Hook — 가장 중요한 구분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헌법 · 매뉴얼 · 버튼 · 이벤트 알람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7839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8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성격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정의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Rule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헌법 (상시 적용)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.cursor/rules/ · .cursorrules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항상 지켜야 하는 것 — “무엇을”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Skill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매뉴얼 (선택 적용)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.cursor/skills/*/SKILL.md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특정 작업 방법 — “어떻게”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Command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 (호출 시)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.cursor/commands/*.md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워크플로우를 슬래시 한 줄로 호출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Hook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알람 (이벤트 자동)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.cursor/hooks.json + *.sh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 시작·저장 등 이벤트에 자동 실행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443984"/>
            <a:ext cx="11057839" cy="1097280"/>
          </a:xfrm>
          <a:prstGeom prst="roundRect">
            <a:avLst>
              <a:gd name="adj" fmla="val 5833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4443984"/>
            <a:ext cx="9144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4672" y="476402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87832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456285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vs Agent 모드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35608" y="4828032"/>
            <a:ext cx="10006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Ask (분석·설명만): 코드 수정 없이 분석·리뷰. “이 코드의 문제점을 탐지해줘”.  🤖 Agent (실제 작업): 파일 생성·수정·명령 실행. “이 RED 테스트를 GREEN으로 만들어줘”.  ⚠️ 초보자 1순위 실수: Ask/Agent 혼동 — “리뷰만”이면 반드시 Ask.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937760" cy="493776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064240" y="3840480"/>
            <a:ext cx="2743200" cy="274320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21208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2F1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03504" y="3383280"/>
            <a:ext cx="640080" cy="10972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58444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ARRR 실행 (7단계 ③~⑦)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 · 14:40 ~ 16:05 (85분) · RED → GREEN → REFACTOR → 반복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TRACEABILITY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→ 할 일 목록(To-Do) → 테스트 케이스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“PRD는 기획 문서가 아니라 테스트의 원천 — 각 시나리오가 To-Do를 거쳐 실행 가능한 테스트 케이스로 변환될 때 코드가 시작된다”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538728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9888" y="212140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(제품 요구사항)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2688336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정의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시나리오(L0~L3)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Contract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Rule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715768"/>
            <a:ext cx="237744" cy="23774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434840" y="182880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34840" y="1828800"/>
            <a:ext cx="353872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90872" y="2084832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6908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57800" y="212140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 목록 (Work Order)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09160" y="2688336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포함 항목만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선별·분류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 구조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번호 부여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2715768"/>
            <a:ext cx="237744" cy="23774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302752" y="182880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02752" y="1828800"/>
            <a:ext cx="353872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558784" y="208483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55878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125712" y="212140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 (Test Case)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577072" y="2688336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Given/When/Then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조건 선언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→ GREEN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검증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66928" y="4078224"/>
            <a:ext cx="3538728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786384" y="422452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1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86384" y="44988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판단(Decision) 포함 항목만 변환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786384" y="4809744"/>
            <a:ext cx="3136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“보인다/허용한다” → 변환 가능 · 단순 행동 to-do → 폐기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434840" y="4078224"/>
            <a:ext cx="3538728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4654296" y="422452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2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654296" y="44988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To-Do : 1 Test Case 대응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4654296" y="4809744"/>
            <a:ext cx="3136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할 일 = 하나의 실패 조건 · 복합 항목은 분해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302752" y="4078224"/>
            <a:ext cx="3538728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8522208" y="422452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3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8522208" y="44988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먼저, 구현은 나중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522208" y="4809744"/>
            <a:ext cx="3136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테스트가 실패한 상태에서 시작 · FAIL 확인 후 GREEN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그림 — ARRR ↔ 개발 활동 ↔ Cursor 요소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표가 세션 4의 핵심: “Ask 단계에서 RED를 진행한다”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ARRR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Cursor 활동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슬래시 Command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— Ask (RED)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설계표 → 스켈레톤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/red-test-plan → /red-skeleton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Ask / Agent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Respond (GREEN)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→ Golden Master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/green-minimal → /golden-master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Agent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Refine (REFACTOR)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스멜 탐지 → 실행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/refactor-smell → /refactor-safe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Ask / Agent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Repeat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문서화 → 다음 질문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Skill: documentation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Agent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57200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5F1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4572000"/>
            <a:ext cx="91440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9149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46908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전략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35608" y="4956048"/>
            <a:ext cx="10006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└ staging ─ spec ─ red ─ green ─ refactoring ─ new_features — 각 ARRR 단계마다 브랜치를 이동하며 작업합니다.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③ ASK = 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Ask = RED — 실패하는 테스트부터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질문은 개념에서 온다: PRD → To-Do → Test Case (C2C)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58384" cy="1828800"/>
          </a:xfrm>
          <a:prstGeom prst="roundRect">
            <a:avLst>
              <a:gd name="adj" fmla="val 3500"/>
            </a:avLst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91440" cy="18288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51460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62890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5608" y="194767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단계 절대 금지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35608" y="2212848"/>
            <a:ext cx="4306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코드 작성 · GREEN·REFACTOR 진입 금지. 모든 테스트는 현재 실패(FAIL/ERROR) 상태. pytest.fail("RED: [ID]") 한 줄로만 의도적 실패. Domain은 Mock으로만(Track A) · skip/xfail 금지.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5358384" cy="1828800"/>
          </a:xfrm>
          <a:prstGeom prst="roundRect">
            <a:avLst>
              <a:gd name="adj" fmla="val 3500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2" y="182880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28816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6289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59752" y="194767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C2C 추적 경로 — PRD → To-Do → Test Case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159752" y="2212848"/>
            <a:ext cx="4306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1: 판단 포함 항목만 변환.  Rule 2: 1 To-Do : 1 Test Case.  Rule 3: RED 먼저, 구현은 나중 (FAIL 확인 후 GREEN).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66928" y="3840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B (Logic) RED 설계표 예시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69664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Test ID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 함수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Given → Then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Invariant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D-LOC-01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find_blank_coords()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G1 → [(2,3),(4,4)] row-major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D-MIS-01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find_not_exist_nums()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G1 → 누락 숫자 오름차순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I7,I11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D-VAL-01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is_magic_square()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완전 격자 → True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I1~I5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CODE · ROI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클린코드인가? — ROI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vs 장기 이익 — 약간의 선투자가 큰 절감으로 돌아온다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49424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EF7EC"/>
          </a:solidFill>
          <a:ln w="12700">
            <a:solidFill>
              <a:srgbClr val="F3DC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작성 시간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2249424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EF7EC"/>
          </a:solidFill>
          <a:ln w="12700">
            <a:solidFill>
              <a:srgbClr val="F3DC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10128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0128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노력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657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이익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86784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BBF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6928" y="42611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" y="4901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감소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55848" y="3986784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BBF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55848" y="42611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55848" y="4901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시간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3986784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BBF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144768" y="42611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-40%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44768" y="4901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 시간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33688" y="3986784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BBF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933688" y="42611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933688" y="4901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시간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클린코드 6대 원칙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38728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46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92224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이름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359152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변수/함수명만 봐도 의미 파악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약어 지양, 도메인 언어 사용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calc(o,c) → calculate_discounted_price()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517904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34840" y="1517904"/>
            <a:ext cx="3538728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72584" y="173736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725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1792224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 (DRY)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59152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 Repeat Yourself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코드 2곳+ → 함수로 추출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포인트를 1곳으로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02752" y="1517904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02752" y="1517904"/>
            <a:ext cx="353872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540496" y="1737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5404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07424" y="1792224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(SRP)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77072" y="2359152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함수/클래스는 하나의 일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이유가 오직 하나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_validate_user() 분리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950208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66928" y="3950208"/>
            <a:ext cx="3538728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2245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함수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4791456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20줄 이하 권장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들여쓰기 2~3단계 이하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3개 이하 권장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950208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434840" y="3950208"/>
            <a:ext cx="3538728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72584" y="4169664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72584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9512" y="42245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4791456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에러를 숨기지 말고 명시적 raise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예외 클래스 활용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FastAPI: HTTPException 변환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02752" y="3950208"/>
            <a:ext cx="3538728" cy="2157984"/>
          </a:xfrm>
          <a:prstGeom prst="roundRect">
            <a:avLst>
              <a:gd name="adj" fmla="val 4237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302752" y="3950208"/>
            <a:ext cx="3538728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540496" y="4169664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540496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07424" y="42245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힌트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77072" y="4791456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 func(x: int) -&gt; str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 자동완성·문서화 효과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mypy 정적 타입 검사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CODE ·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① 명확한 이름 — Before / After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86384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2139696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249424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calc(o, c):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o * c.pct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 - 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91072" y="1554480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139696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38544" y="2249424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calculate_discounted_price(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original_price: float,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coupon: Coupon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float: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discount_amount = 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original_price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 coupon.discount_percentage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original_price - discount_amount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CODE ·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③ 단일 책임(SRP) — Before / After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86384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2139696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249424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process_order(user_id, items,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coupon_code):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사용자 검증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db.query(User).filter_by(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id=user_id).first()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쿠폰 검증 + 가격 계산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주문 저장 + 알림 전송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한 함수가 너무 많은 책임!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91072" y="1554480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139696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38544" y="2249424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create_order(self, user_id,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items, coupon_code):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self._validate_user(user_id)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coupon = self._get_coupon(coupon_code)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self._calculate_total(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items, coupon)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self._save_order(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user, items, total)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self._notify_user(user, order)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MODULARITY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모듈화 품질 지표 — 결합도와 응집도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결합도는 낮을수록, 응집도는 높을수록 좋다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결합도 (낮을수록 좋음)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 결합도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 기능/자료 직접 참조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결합도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전역변수 공유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결합도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인터페이스 자료요소로만 구성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응집도 (높을수록 좋음)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기능적 응집도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단일 기능 수행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순차적 응집도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출력 → 다음 입력으로 연결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우연적 응집도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연관성 없는 요소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OOP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객체지향 설계 SOLID 5대 원칙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21488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21308" y="1865376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21308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6656" y="26334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(SRP)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856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클래스 = 하나의 책임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이유가 하나여야 한다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God Class 분리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7792" y="1609344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07792" y="1609344"/>
            <a:ext cx="2148840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62172" y="1865376"/>
            <a:ext cx="640080" cy="64008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62172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017520" y="26334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개방/폐쇄 (OCP)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72384" y="3200400"/>
            <a:ext cx="1856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확장엔 열려, 수정엔 닫힘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Pattern 활용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결제 수단 추가 시 무수정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48656" y="1609344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48656" y="1609344"/>
            <a:ext cx="21488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03036" y="186537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003036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58384" y="26334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리스코프 치환 (LSP)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200400"/>
            <a:ext cx="1856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자식으로 부모 대체 가능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Bird→Penguin fly() 위반 사례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Flyable 인터페이스 분리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0" y="1609344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589520" y="1609344"/>
            <a:ext cx="2148840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343900" y="1865376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43900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699248" y="26334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분리 (ISP)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54112" y="3200400"/>
            <a:ext cx="1856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메서드 의존 X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BasicActions + Flyable + Swimmable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Dog는 fly/swim 불필요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30384" y="1609344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30384" y="1609344"/>
            <a:ext cx="2148840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684764" y="1865376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684764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0040112" y="26334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역전 (DIP)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94976" y="3200400"/>
            <a:ext cx="1856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구체가 아닌 추상에 의존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MessageService ABC ← Email/SMS</a:t>
            </a:r>
            <a:endParaRPr lang="en-US" sz="950" dirty="0"/>
          </a:p>
          <a:p>
            <a:pPr marL="127000" indent="-1270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상위가 하위 세부에 의존 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 TESTS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테스트의 특징 — F.I.R.S.T</a:t>
            </a:r>
            <a:endParaRPr lang="en-US" sz="2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5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 — Fast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빠르게 실행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단위 테스트는 밀리초 단위, 자주 실행 가능해야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 — Isolated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독립적 실행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테스트에 의존하지 않고 독립 실행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 — Repeatable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반복 가능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언제 어디서나 동일한 결과 보장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 — Self-validating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자가 검증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자동으로 성공/실패 판단 (assert)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 — Timely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적시 작성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작성과 함께(또는 이전에) 테스트 작성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구조 — Given / When / Then (BDD)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구조 없는 테스트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test_order():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User(id=1)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create_order(1, items)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order.total == 10000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무엇을 테스트하는지 불명확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517904"/>
            <a:ext cx="5358384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103120"/>
            <a:ext cx="4992624" cy="3712464"/>
          </a:xfrm>
          <a:prstGeom prst="roundRect">
            <a:avLst>
              <a:gd name="adj" fmla="val 1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38544" y="2212848"/>
            <a:ext cx="46634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Given / When / Then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test_order_with_discount():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Given (준비)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create_test_user()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coupon = create_coupon(0.1)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When (실행)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create_order(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user.id, items, coupon.code)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Then (검증)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order.subtotal == 10000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order.discount == 1000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order.total == 9000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TO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테스트할 것인가?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58384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358384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7824" y="177393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Right-BICEP 원칙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322576"/>
            <a:ext cx="47183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Right — 결과가 옳은가?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— 경계 조건이 맞는가?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— 역관계 확인 가능한가?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— 교차 검증 가능한가?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— 에러 조건을 강제할 수 있나?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— 성능 특성이 범위 내인가?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554480"/>
            <a:ext cx="5358384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53583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01968" y="177393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CORRECT 경계 조건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0256" y="2322576"/>
            <a:ext cx="47183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— 형식 일치 (Conformation)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— 순서 (Ordering)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— 범위 (Range)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— 참조 (Reference)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— 존재성 (Existence)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— 개체 수 (Cardinality)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 — 시간 (Time)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④ RESPOND = GREEN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Respond = GREEN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통과하는 최소 코드 → Golden Master로 출력 계약 고정 → 안전한 개선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1057839" cy="1645920"/>
          </a:xfrm>
          <a:prstGeom prst="roundRect">
            <a:avLst>
              <a:gd name="adj" fmla="val 3889"/>
            </a:avLst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91440" cy="1645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4231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53746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5608" y="19476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Respond = GREEN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35608" y="2212848"/>
            <a:ext cx="1000627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테스트 1개 선택 → 의도한 실패 확인.  통과할 최소 코드만 작성 (하드코딩·매직넘버 금지).  동일 테스트 재실행 → PASS.  1커밋 = RED 1묶음 (한 번에 다 해결 금지).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57600"/>
            <a:ext cx="11057839" cy="1828800"/>
          </a:xfrm>
          <a:prstGeom prst="roundRect">
            <a:avLst>
              <a:gd name="adj" fmla="val 3500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66928" y="3657600"/>
            <a:ext cx="91440" cy="18288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4672" y="43434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457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35608" y="37764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Golden Master · Approval Test (출력 계약 고정)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435608" y="4041648"/>
            <a:ext cx="1000627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상태에서 출력을 기준 파일로 고정합니다. int[6] 1-index·에러 코드 문자열 포맷 고정, golden 수동 편집으로 통과 우회 금지. 리팩토링 후 출력이 달라지면 회귀로 잡히고, 의도적 변경이면 근거 문서화 후 approve합니다.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 개발을 위해 알아야 할 것들 — CS 필수 기반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CS 지식은 개발 역량의 ‘하한’과 ‘상한’을 결정합니다 — 언어·프레임워크는 바뀌어도 CS 기반은 영원합니다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21488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39596" y="2066544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217420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자료구조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Structures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4944" y="3346704"/>
            <a:ext cx="189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배열·리스트·스택·큐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해시맵·그래프·트리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문제↔자료구조 선택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07792" y="182880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907792" y="1828800"/>
            <a:ext cx="2148840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680460" y="2066544"/>
            <a:ext cx="603504" cy="603504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2217420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99232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999232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035808" y="3346704"/>
            <a:ext cx="189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탐색·정렬·분할정복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DP·그리디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Big-O 시간/공간 복잡도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248656" y="182880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248656" y="1828800"/>
            <a:ext cx="21488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021324" y="2066544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17420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40096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운영체제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340096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376672" y="3346704"/>
            <a:ext cx="189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프로세스/스레드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구조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동기화/경쟁 → async/await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589520" y="182880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7589520" y="1828800"/>
            <a:ext cx="2148840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8362188" y="2066544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217420"/>
            <a:ext cx="301752" cy="30175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80960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680960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717536" y="3346704"/>
            <a:ext cx="189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TCP/IP · HTTP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DNS · REST · WebSocket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API 설계의 근본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9930384" y="182880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9930384" y="1828800"/>
            <a:ext cx="214884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0703052" y="2066544"/>
            <a:ext cx="603504" cy="60350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928" y="2217420"/>
            <a:ext cx="301752" cy="30175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021824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0021824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0058400" y="3346704"/>
            <a:ext cx="189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· 트랜잭션(ACID)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인덱스·조인·정규화</a:t>
            </a:r>
            <a:endParaRPr lang="en-US" sz="950" dirty="0"/>
          </a:p>
          <a:p>
            <a:pPr marL="0" indent="0" algn="ctr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NoSQL (MongoDB, Redis)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566928" y="51755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실습은 Python 3.10+ 환경에서 진행합니다 — Java·JS 등 다른 언어로 구현하지 않도록 주의하세요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실습 환경 구성 — GREEN 단계 착수 전 필수 확인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체크리스트 (착수 전 필수)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700784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4944" y="181051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1872234"/>
            <a:ext cx="150876" cy="1508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7556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버전 확인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8992" y="19751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 → 3.10 이상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" y="2267712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94944" y="23774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2439162"/>
            <a:ext cx="150876" cy="1508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" y="232257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설치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78992" y="2542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 → import 확인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6928" y="2834640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94944" y="294436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3006090"/>
            <a:ext cx="150876" cy="1508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28895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루트 확인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78992" y="31089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Cursor에서 올바른 폴더를 열었는지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66928" y="3401568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94944" y="3511296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3573018"/>
            <a:ext cx="150876" cy="1508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8992" y="345643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.cursorrules 설정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78992" y="36758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언어 명시 룰 작성 완료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66928" y="3968496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694944" y="407822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4139946"/>
            <a:ext cx="150876" cy="1508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78992" y="40233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가상환경 활성화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078992" y="42428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 또는 conda env 활성 상태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66928" y="4535424"/>
            <a:ext cx="5852160" cy="493776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694944" y="464515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" y="4706874"/>
            <a:ext cx="150876" cy="15087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78992" y="45902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연결 확인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78992" y="480974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test_*.py ↔ magic_square.py 같은 폴더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784848" y="1371600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.cursorrules — Python 언어 명시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784848" y="1682496"/>
            <a:ext cx="4839919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/>
          <p:nvPr/>
        </p:nvSpPr>
        <p:spPr>
          <a:xfrm>
            <a:off x="6949440" y="1792224"/>
            <a:ext cx="45107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language: python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"3.10+"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test_framework: pytest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no_java: true   # Java 금지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style: pep8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type_hints: required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784848" y="3200400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프로젝트 구조 (Python)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6784848" y="3511296"/>
            <a:ext cx="4839919" cy="1700784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/>
          <p:nvPr/>
        </p:nvSpPr>
        <p:spPr>
          <a:xfrm>
            <a:off x="6949440" y="3621024"/>
            <a:ext cx="451073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magic_square_project/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magic_square.py   # Entity+Control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grid_ui.py        # UI (Boundary)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test_logic_magic.py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test_ui_magic.py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.cursorrules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566928" y="563270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FEF7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566928" y="5632704"/>
            <a:ext cx="91440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8"/>
          <p:cNvSpPr/>
          <p:nvPr/>
        </p:nvSpPr>
        <p:spPr>
          <a:xfrm>
            <a:off x="804672" y="574243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856732"/>
            <a:ext cx="228600" cy="2286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435608" y="575157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vs Python — 혼용 시 문제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1435608" y="6016752"/>
            <a:ext cx="10006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Java로 구현 → pytest가 .java 미인식 · ❌ 언어 혼용 → import/문법 충돌 · ✅ Python 통일 → test_*.py ↔ *.py 자동 연결. 프롬프트에 “Python 3.10+, pytest 기반” 명시.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⑤ REFINE = REFACTOR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Refine = REFACTOR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동작을 유지하면서 내부 구조를 개선한다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11057839" cy="2011680"/>
          </a:xfrm>
          <a:prstGeom prst="roundRect">
            <a:avLst>
              <a:gd name="adj" fmla="val 3182"/>
            </a:avLst>
          </a:prstGeom>
          <a:solidFill>
            <a:srgbClr val="EEF6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91440" cy="201168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69748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81178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5608" y="203911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Refine = REFACTOR — 안전 규칙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35608" y="2304288"/>
            <a:ext cx="10006279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계약(입출력·예외) 변경 금지.  매 커밋 pytest 전체 PASS + Golden Master matched 유지.  Change Budget: 파일 ≤ 3 / 클래스 ≤ 1 / 메서드 ≤ 3.  Long Method · Duplicated Code · Mysterious Name 제거.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66928" y="4114800"/>
            <a:ext cx="91440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4672" y="4572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6863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35608" y="42336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안전한가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435608" y="4498848"/>
            <a:ext cx="100062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테스트(추적성)가 코드를 지켜주기 때문에 구조를 바꿔도 동작이 깨지면 즉시 빨간불이 켜진다 — 그래서 리팩토링이 ‘안전한 개선’이 된다.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3-Step 프로세스 — 스멜 → SOLID → 검증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EEF6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91440" cy="71323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1499616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613916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5608" y="14904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= 외부 동작 유지 + 내부 구조 개선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35608" y="1755648"/>
            <a:ext cx="10006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추가 ≠ 리팩토링 · 버그 수정 ≠ 리팩토링. 시작 전 3대 전제: ① 테스트 커버리지 80%+ ② Git 브랜치 분리 ③ 소규모 커밋.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286000"/>
            <a:ext cx="3538728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66928" y="2286000"/>
            <a:ext cx="353872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41248" y="250545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· 코드 스멜 식별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9536" y="296265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Mysterious Name 탐지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 Method (20줄+)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Large Class (God Class)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Duplicated Code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340156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434840" y="2286000"/>
            <a:ext cx="3538728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34840" y="2286000"/>
            <a:ext cx="353872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709160" y="250545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· SOLID 적용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727448" y="296265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SRP: 책임 분리 (ECB)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OCP: Strategy Pattern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LSP: 인터페이스 재설계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DIP: ABC 의존성 역전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401568"/>
            <a:ext cx="237744" cy="2377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302752" y="2286000"/>
            <a:ext cx="3538728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302752" y="2286000"/>
            <a:ext cx="353872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8577072" y="250545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· 검증 &amp; 커밋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95360" y="296265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전체 실행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80%+ 유지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flake8 / pylint 점수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commit &amp; push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66928" y="49377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“Lock-Step REFACTOR” — UI + Logic 동시 정리 · UX 행동 변화 금지 · 모든 테스트 GREEN 유지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리팩토링의 두 경구 — Vision &amp; Inspect and Adapt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5358384" cy="34747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53583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3017520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“Vision without execution is just a dream.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without vision is a nightmare.”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" y="4114800"/>
            <a:ext cx="4626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없는 실행은 악몽이고, 실행 없는 비전은 꿈일 뿐이다.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넓게 바라보는 비전과 실행 가능한 준비가 동시에 필요하다.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91072" y="1737360"/>
            <a:ext cx="5358384" cy="34747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91072" y="1737360"/>
            <a:ext cx="5358384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04504" y="21031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22860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56832" y="3017520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“Inspect and Adapt”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(점검하고 적응하라)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656832" y="4114800"/>
            <a:ext cx="4626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넓게 관찰하고 현재 상황을 평가한 후, 실행 가능한 방법을 조정하여 개선해야 함.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 및 DevOps의 핵심 철학이다.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TO REFACTOR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시점 — Don Roberts의 3의 법칙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1단계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발생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그냥 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기능 개발 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2단계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 번째 비슷한 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중복 감수하고 진행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 번째 같은 패턴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11D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3단계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 번째 동일 패턴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리팩토링 시작!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함수 추출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쓰레기 줍기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수정 중 발견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지나가면서 정리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Boy Scout Rule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 리팩토링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파악 중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이해하며 정리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복잡한 함수 분리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 준비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기능 추가 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추가 쉽게 구조 변경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OCP 원칙 적용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GARBAGE COLLECTING · 예제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1 — 불필요한 코드 제거 (order_processor.py)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206240"/>
          </a:xfrm>
          <a:prstGeom prst="roundRect">
            <a:avLst>
              <a:gd name="adj" fmla="val 217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438144"/>
          </a:xfrm>
          <a:prstGeom prst="roundRect">
            <a:avLst>
              <a:gd name="adj" fmla="val 15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OrderProcessor: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calculate_total(self, price,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quantity, discount) -&gt; float: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discount &gt; 0: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= (price*quantity) - discount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= price * quantity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불필요한 디버깅용 출력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print(f"Total: {total}")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206240"/>
          </a:xfrm>
          <a:prstGeom prst="roundRect">
            <a:avLst>
              <a:gd name="adj" fmla="val 217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438144"/>
          </a:xfrm>
          <a:prstGeom prst="roundRect">
            <a:avLst>
              <a:gd name="adj" fmla="val 15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OrderProcessor: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calculate_total(self, price,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quantity, discount) -&gt; float: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price * quantity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discount &gt; 0: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-= discount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print() 디버깅 제거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중복 계산 제거 · 흐름이 한눈에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3387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쓰레기 줍기 리팩토링(Garbage Collecting) — 산재한 작고 명확한 문제를 점진적으로 정리해 품질을 서서히 끌어올린다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GARBAGE COLLECTING · 예제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2 — 중복 코드 정리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send_email_to_user(user_email):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f"Sending to user: {user_email}")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send_email_to_admin(admin_email):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f"Sending to admin: {admin_email}")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동일 기능인데 수신자만 다름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중복 코드 발생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EmailSender: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send_email(self, email,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recipient_type):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f"Sending to "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f"{recipient_type}: {email}")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하나로 통합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수신자 구분은 recipient_type 인자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중복 제거 · 유지보수 용이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GARBAGE COLLECTING · 예제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3 — 의미 없는 변수 및 로직 제거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AverageCalculator: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calculate_average(self, numbers):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total_sum = 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number in numbers: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total_sum += number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total_count = len(numbers)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불필요한 중간 변수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average_value = 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float(total_sum) / total_count)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average_value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AverageCalculator: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calculate_average(self, numbers):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total_sum = 0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number in numbers: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total_sum += number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total_sum / len(numbers)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불필요한 변수 average_value 제거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문에서 바로 표현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더 간결하고 직관적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GARBAGE COLLECTING · 예제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4 — 사용되지 않는 코드(dead code) 제거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PriceCalculator: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calculate_total_price(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self, price, quantity):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* quantity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unused_function(self):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print("This function is not used.")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어디서도 호출되지 않음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‘죽은 코드(dead code)’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PriceCalculator: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calculate_total_price(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self, price, quantity):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* quantity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unused_function() 삭제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코드가 더 간결·깨끗(clean code)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클래스 책임이 명확해짐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유지보수성 향상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REFACTORING TO UNDERSTAND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이해를 위한 리팩토링 (Refactoring to Understand)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CommissionCalculator: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a(self, x, y):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 * 0.05 * y / (x + y)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함수명 a, 변수 x·y 의미 불명확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의도(‘판매 수수료율 계산’) 파악 난해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유지보수 시 이해 어려움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CommissionCalculator: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calculate_commission_rate(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self, sales, expenses):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(sales * 0.05 * expenses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/ (sales + expenses))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a() → calculate_commission_rate()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x, y → sales, expenses 의미 부여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계산 구조 유지 + 이해 쉬운 형태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REFACTORING TO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변화를 위한 리팩토링 — OCP (Open-Closed Principle)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OrderProcessor: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process_order(self, order_type):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order_type == "online":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print("Processing online order")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order_type == "in_store":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print("Processing in-store order")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print("Unknown order type")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유형 추가마다 if-elif 증가 → OCP 위반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5358384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151790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0528" y="1591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92624" cy="3346704"/>
          </a:xfrm>
          <a:prstGeom prst="roundRect">
            <a:avLst>
              <a:gd name="adj" fmla="val 163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8544" y="2212848"/>
            <a:ext cx="46634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OrderProcessor: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self.processors = {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"online": self._online,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"in_store": self._in_store }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process_order(self, order_type):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= self.processors.get(order_type)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fn() if fn else print("Unknown")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등록 → 추가만 하면 확장 (OCP 부합)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SMELLS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스멜 (Code Smell) 7가지 유형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2670048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6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1773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Mysterious Name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2322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모호한 이름 → 명확한 이름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" y="3108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77824" y="3108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Function Declaration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9584" y="1554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529584" y="1554480"/>
            <a:ext cx="2670048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3075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9664" y="1773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Duplicated 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2322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코드 2곳 이상 존재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3108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3108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 Function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1554480"/>
            <a:ext cx="2670048" cy="7315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93408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1773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 Method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11696" y="2322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20줄 초과 함수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11696" y="3108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03136" y="3108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 Method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54896" y="1554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454896" y="1554480"/>
            <a:ext cx="267004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656064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94976" y="1773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Large Class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74352" y="2322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많은 책임 · SRP 위반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74352" y="3108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765792" y="3108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 Class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3840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66928" y="3840480"/>
            <a:ext cx="2670048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8096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07008" y="4059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Envy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" y="4608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클래스 데이터 과도 접근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384" y="5394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77824" y="5394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 Method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29584" y="3840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529584" y="3840480"/>
            <a:ext cx="2670048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730752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169664" y="4059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Divergent Change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749040" y="4608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이유로 자주 수정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49040" y="5394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840480" y="5394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 Class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92240" y="384048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492240" y="3840480"/>
            <a:ext cx="2670048" cy="7315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693408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32320" y="4059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Shotgun Surgery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711696" y="460857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시 여러 클래스를 동시에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11696" y="5394960"/>
            <a:ext cx="2231136" cy="310896"/>
          </a:xfrm>
          <a:prstGeom prst="rect">
            <a:avLst/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803136" y="539496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B2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 </a:t>
            </a: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 Field · Combine Functions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SQUARE REFACTOR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Square REFACTOR — SRP 적용: Entity + Control 분리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실습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 단계의 하드코딩 → REFACTOR: 알고리즘 적용 + ECB 책임 분리 (SRP)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00784"/>
            <a:ext cx="5358384" cy="3931920"/>
          </a:xfrm>
          <a:prstGeom prst="roundRect">
            <a:avLst>
              <a:gd name="adj" fmla="val 2326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00784"/>
            <a:ext cx="5358384" cy="457200"/>
          </a:xfrm>
          <a:prstGeom prst="rect">
            <a:avLst/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86384" y="177393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286000"/>
            <a:ext cx="4992624" cy="3163824"/>
          </a:xfrm>
          <a:prstGeom prst="roundRect">
            <a:avLst>
              <a:gd name="adj" fmla="val 173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663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MagicSquare: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Entity + Control 혼재 ← SRP 위반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size: int):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self.size = size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self.grid = PRESET_4X4  # 하드코딩!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is_valid(self) -&gt; bool: ...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find_missing(self): ...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generate_siamese(self): ...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너무 많은 책임!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91072" y="1700784"/>
            <a:ext cx="5358384" cy="3931920"/>
          </a:xfrm>
          <a:prstGeom prst="roundRect">
            <a:avLst>
              <a:gd name="adj" fmla="val 2326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91072" y="1700784"/>
            <a:ext cx="5358384" cy="457200"/>
          </a:xfrm>
          <a:prstGeom prst="rect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0528" y="177393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After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73952" y="2286000"/>
            <a:ext cx="4992624" cy="3163824"/>
          </a:xfrm>
          <a:prstGeom prst="roundRect">
            <a:avLst>
              <a:gd name="adj" fmla="val 173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38544" y="2395728"/>
            <a:ext cx="4663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MagicSquare:  # &lt;&lt;entity&gt;&gt;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"""격자 데이터만 담당"""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size: int):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self.size = size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self.grid = self._generate()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_generate(self) -&gt; list: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# Siamese 알고리즘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SquareValidator:  # &lt;&lt;control&gt;&gt;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"""검증 로직만 담당"""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is_valid(self, sq): 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LOCK-STEP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Dual-Track Lock-Step REFACTOR — 전체 흐름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 단계 하드코딩 → REFACTOR · 알고리즘 적용 + ECB 책임 분리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1755648" cy="91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24712" y="2322576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24712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입력물 준비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· UX Contract · Logic Rule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코드 금지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514600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450592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2450592" y="2011680"/>
            <a:ext cx="175564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3008376" y="2322576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008376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542032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42032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RED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78608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기반 실패 UI 테스트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Contract 선언</a:t>
            </a:r>
            <a:endParaRPr lang="en-US" sz="9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2514600"/>
            <a:ext cx="182880" cy="1828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334256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334256" y="2011680"/>
            <a:ext cx="1755648" cy="91440"/>
          </a:xfrm>
          <a:prstGeom prst="rect">
            <a:avLst/>
          </a:prstGeom>
          <a:solidFill>
            <a:srgbClr val="E04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892040" y="2322576"/>
            <a:ext cx="640080" cy="640080"/>
          </a:xfrm>
          <a:prstGeom prst="ellipse">
            <a:avLst/>
          </a:prstGeom>
          <a:solidFill>
            <a:srgbClr val="E04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4892040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4425696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4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425696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RED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62272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규칙 기반 실패 테스트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Gherkin→pytest 변환</a:t>
            </a:r>
            <a:endParaRPr lang="en-US" sz="9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514600"/>
            <a:ext cx="182880" cy="18288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217920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6217920" y="2011680"/>
            <a:ext cx="175564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6775704" y="2322576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6775704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6309360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09360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GREEN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345936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고려 없이 최소 도메인 구현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하드코딩 허용</a:t>
            </a:r>
            <a:endParaRPr lang="en-US" sz="9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514600"/>
            <a:ext cx="182880" cy="18288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101584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8101584" y="2011680"/>
            <a:ext cx="1755648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8659368" y="2322576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/>
          <p:nvPr/>
        </p:nvSpPr>
        <p:spPr>
          <a:xfrm>
            <a:off x="8659368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8193024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8193024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GREEN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8229600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주입(Inject)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테스트 통과만 목표</a:t>
            </a:r>
            <a:endParaRPr lang="en-US" sz="9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56" y="2514600"/>
            <a:ext cx="182880" cy="182880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9985248" y="2011680"/>
            <a:ext cx="1755648" cy="3108960"/>
          </a:xfrm>
          <a:prstGeom prst="roundRect">
            <a:avLst>
              <a:gd name="adj" fmla="val 5208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/>
          <p:cNvSpPr/>
          <p:nvPr/>
        </p:nvSpPr>
        <p:spPr>
          <a:xfrm>
            <a:off x="9985248" y="2011680"/>
            <a:ext cx="175564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10543032" y="2322576"/>
            <a:ext cx="640080" cy="64008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/>
          <p:nvPr/>
        </p:nvSpPr>
        <p:spPr>
          <a:xfrm>
            <a:off x="10543032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400" dirty="0"/>
          </a:p>
        </p:txBody>
      </p:sp>
      <p:sp>
        <p:nvSpPr>
          <p:cNvPr id="52" name="Text 45"/>
          <p:cNvSpPr/>
          <p:nvPr/>
        </p:nvSpPr>
        <p:spPr>
          <a:xfrm>
            <a:off x="10076688" y="3072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0076688" y="33284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10113264" y="3877056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+ Logic 동시 정리</a:t>
            </a:r>
            <a:endParaRPr lang="en-US" sz="9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Lock-Step 동기화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⑥ 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Repeat &amp; ⑦ 기능 확장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사이클을 문서화로 닫고 다음 질문으로 — 최소 3회 반복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58384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583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2140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5856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6192" y="21945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Repeat (반복)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7824" y="2880360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사이클을 ⑧ 문서화로 닫는다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질문(③ Ask)으로 돌아간다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모두 통과까지 최소 3회 반복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반복이 쌓여 Magic Square 완성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5358384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2" y="1828800"/>
            <a:ext cx="5358384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5856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0336" y="21945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⑦ 기능 확장 (Advanced)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01968" y="2880360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기능 = 새 ARRR 사이클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 기본 동작 → v2 근거 출력 → v3 표준화·예외 보강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버전마다 테스트를 먼저 추가(Ask)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확장도 추적 가능(C2C) 상태로 진행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6928" y="457200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DEE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66928" y="4572000"/>
            <a:ext cx="91440" cy="9144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91490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35608" y="46908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(30분)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435608" y="4956048"/>
            <a:ext cx="10006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/red-test-plan → /red-skeleton → pytest FAIL 확인 → red 브랜치 → Report·Transcript Export → GitHub 업로드.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937760" cy="493776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064240" y="3840480"/>
            <a:ext cx="2743200" cy="274320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21208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2F1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03504" y="3383280"/>
            <a:ext cx="64008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58444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문서화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5 · 16:15 ~ 17:10 (55분) · 문서화는 C2C의 마지막 고리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DOCUMENTATION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문서화 — 3원칙 · 자동 생성 · 8섹션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91440" cy="7315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6230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5608" y="1490472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3원칙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35608" y="1755648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SSOT: 요구사항은 docs/PRD 한 곳에만  ② 세션 = 저장 단위: ARRR 한 바퀴마다 Report+Transcript 저장  ③ 번호 일관성: Report/01 · Prompting/01.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종류별 자동 생성</a:t>
            </a:r>
            <a:endParaRPr lang="en-US" sz="12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15184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PRD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§1~§8 구조로 작성해줘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테스트 케이스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TC-MS-001 작성해줘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결함 목록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defect_list.md에 정리해줘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 보고서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 폴더에 생성해줘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 이력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Prompting에 Export 해줘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419088" y="2286000"/>
            <a:ext cx="5205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보고서 8섹션 — Report/NN.md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19088" y="2615184"/>
            <a:ext cx="5205679" cy="2596896"/>
          </a:xfrm>
          <a:prstGeom prst="roundRect">
            <a:avLst>
              <a:gd name="adj" fmla="val 3521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675120" y="2816352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§1 작업 개요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021928" y="2816352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§2 완료 To-Do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75120" y="3383280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 RED 결과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021928" y="3383280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§4 GREEN 결과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675120" y="3950208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§5 REFACTOR 결과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9021928" y="3950208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§6 커버리지 현황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75120" y="4517136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§7 미완료 &amp; 다음 단계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021928" y="4517136"/>
            <a:ext cx="2255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§8 이슈 &amp; 결함 (ISS/DEF + 근본 원인)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53949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이 8섹션이 곧 ‘개념→코드→결과’ 추적 기록. C2C가 문서로 닫힙니다.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 · KPT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— KPT 회고 &amp; 현업 적용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한 흐름: C2C → ARRR(=Dual-Track TDD) → Cursor 도구함 → 문서화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538728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41248" y="2084832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208276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13969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Keep (유지)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9536" y="27432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개념→코드 추적을 먼저 생각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ARRR=Dual-Track TDD로 인식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1커밋 = 1 RED 원칙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34840" y="18288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34840" y="1828800"/>
            <a:ext cx="3538728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709160" y="2084832"/>
            <a:ext cx="493776" cy="493776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20827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12664" y="213969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(문제)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727448" y="27432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Ask/Respond 경계 혼용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제안 검증 부족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목표 미달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302752" y="1828800"/>
            <a:ext cx="3538728" cy="2286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101600" dist="31750" dir="54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302752" y="1828800"/>
            <a:ext cx="3538728" cy="914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577072" y="2084832"/>
            <a:ext cx="493776" cy="49377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208276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80576" y="213969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Try (시도)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595360" y="274320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PRD를 SSOT로 선행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 approve 절차 문서화</a:t>
            </a:r>
            <a:endParaRPr lang="en-US" sz="120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Rule/Skill/Command 정비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66928" y="4370832"/>
            <a:ext cx="11057839" cy="1188720"/>
          </a:xfrm>
          <a:prstGeom prst="roundRect">
            <a:avLst>
              <a:gd name="adj" fmla="val 5385"/>
            </a:avLst>
          </a:prstGeom>
          <a:solidFill>
            <a:srgbClr val="ECFD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566928" y="4370832"/>
            <a:ext cx="9144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04672" y="47365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85089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35608" y="4489704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적용 — 팀 액션 아이템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435608" y="4754880"/>
            <a:ext cx="100062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전략 → PR 규칙 문서화 · 커버리지 Gate → CI 80% 하한선 · .cursorrules·Skill·Command → 리뷰에서 준수 확인 · Golden Master → GM 회귀 0건.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6304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8863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5947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— 빠른 참조 카드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53167" y="4389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53167" y="438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· Cursor 요소 구분 · pytest 명령어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922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한 장 요약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21408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정의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C2C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개념→요구→테스트→코드 추적성 (목표)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 E.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지시문(말) 다듬기 — “어떻게 말할까”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컨텍스트 E.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 환경 설계 — “무엇을 보여줄까”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하네스 E.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골격 설계 — Agent=Model+Harness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ARRR ≡ TDD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Ask=RED·Respond=GREEN·Refine=REFACTOR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7단계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①주제 ②설계 ③A ④R ⑤R ⑥R ⑦확장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784848" y="1792224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요소 즉석 구분법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84848" y="2121408"/>
            <a:ext cx="4839919" cy="347472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931152" y="2121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47888" y="2121408"/>
            <a:ext cx="32854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지켜야 하는 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84848" y="2542032"/>
            <a:ext cx="4839919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931152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47888" y="2542032"/>
            <a:ext cx="32854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작업 방법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84848" y="2962656"/>
            <a:ext cx="4839919" cy="347472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931152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47888" y="2962656"/>
            <a:ext cx="32854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버튼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84848" y="3383280"/>
            <a:ext cx="4839919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47888" y="3383280"/>
            <a:ext cx="32854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자동 알람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84848" y="3931920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명령어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784848" y="4242816"/>
            <a:ext cx="4839919" cy="1280160"/>
          </a:xfrm>
          <a:prstGeom prst="roundRect">
            <a:avLst>
              <a:gd name="adj" fmla="val 428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949440" y="4352544"/>
            <a:ext cx="451073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-v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tests/boundary/ -v   # Track A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tests/entity/ -v     # Track B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--cov=src \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--cov-report=term-missing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 · C2C 기반 개발 교안 — 1일차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51580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DaeKyeong Kim, Ph.D.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167567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35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0" y="3657600"/>
            <a:ext cx="3291840" cy="3291840"/>
          </a:xfrm>
          <a:prstGeom prst="ellipse">
            <a:avLst/>
          </a:prstGeom>
          <a:solidFill>
            <a:srgbClr val="0B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84368" y="15544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08" y="17602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51760"/>
            <a:ext cx="94484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“앞으로의 엔지니어는 단순한 코더가 아니라,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협업하여 문제를 해결하는 지식 설계자입니다.”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55768" y="4297680"/>
            <a:ext cx="128016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371600" y="448056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D8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DaeKyeong Kim, Ph.D.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5943600"/>
            <a:ext cx="9448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8F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AI를 활용한 소프트웨어 개발 · C2C 기반 개발 교안 — 1일차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8713</Words>
  <Application>Microsoft Office PowerPoint</Application>
  <PresentationFormat>와이드스크린</PresentationFormat>
  <Paragraphs>1608</Paragraphs>
  <Slides>64</Slides>
  <Notes>64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69" baseType="lpstr">
      <vt:lpstr>Noto Sans KR</vt:lpstr>
      <vt:lpstr>Arial</vt:lpstr>
      <vt:lpstr>Consolas</vt:lpstr>
      <vt:lpstr>MS Reference Sans Serif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AI를 활용한 소프트웨어 개발 · C2C 기반 개발 교안 (1일차)</dc:title>
  <dc:subject>PptxGenJS Presentation</dc:subject>
  <dc:creator>DaeKyeong Kim, Ph.D.</dc:creator>
  <cp:lastModifiedBy>대경 김</cp:lastModifiedBy>
  <cp:revision>2</cp:revision>
  <dcterms:created xsi:type="dcterms:W3CDTF">2026-06-07T09:45:28Z</dcterms:created>
  <dcterms:modified xsi:type="dcterms:W3CDTF">2026-06-08T00:21:49Z</dcterms:modified>
</cp:coreProperties>
</file>